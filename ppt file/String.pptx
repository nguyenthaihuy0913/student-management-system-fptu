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6" r:id="rId1"/>
  </p:sldMasterIdLst>
  <p:notesMasterIdLst>
    <p:notesMasterId r:id="rId23"/>
  </p:notesMasterIdLst>
  <p:sldIdLst>
    <p:sldId id="256" r:id="rId2"/>
    <p:sldId id="265" r:id="rId3"/>
    <p:sldId id="276" r:id="rId4"/>
    <p:sldId id="309" r:id="rId5"/>
    <p:sldId id="307" r:id="rId6"/>
    <p:sldId id="310" r:id="rId7"/>
    <p:sldId id="311" r:id="rId8"/>
    <p:sldId id="312" r:id="rId9"/>
    <p:sldId id="313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04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3" autoAdjust="0"/>
    <p:restoredTop sz="79632" autoAdjust="0"/>
  </p:normalViewPr>
  <p:slideViewPr>
    <p:cSldViewPr>
      <p:cViewPr varScale="1">
        <p:scale>
          <a:sx n="84" d="100"/>
          <a:sy n="84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51BF50-0F84-441F-8386-03A4B7238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54E82-B9F2-416B-88D1-8A75A10258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A111E2F-E82A-430E-9357-CFD2047D2679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5CE690-CCEF-4202-9203-E2C748629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330005-79A3-42C9-823E-47967F984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CE974-FED9-49FB-BFDE-38F60DE930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27394-4773-43EF-8D24-A43A9B4A4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6FF5448-A2F0-4A49-8EF3-5ABB5A8FD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F4C21E2-4EE3-4B1A-B958-441156F62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76F18D0-7082-4623-91FA-1EB5860F8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  <a:p>
            <a:endParaRPr lang="vi-VN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2D825D5-84CA-4E5B-99F5-583AE73DF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BA90C7A-0D45-417D-95AF-F0FA8C8AB7FE}" type="slidenum">
              <a:rPr lang="en-US" altLang="en-US" smtClean="0">
                <a:latin typeface="Calibri" panose="020F0502020204030204" pitchFamily="34" charset="0"/>
              </a:rPr>
              <a:pPr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84579-C751-40AD-87A4-0938E7E4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7D5C9-F607-42AC-BCDA-50763776D168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CEDD1-A46D-4F12-AE83-63B85B47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3E9D-09B7-423C-B88A-FE1B306A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3BC8E-587B-4B4B-AD9C-66AB623D5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0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EBDE9-5997-4292-8F05-87EC2D69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0137F-940E-465E-85F2-3AA49F753A10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0929-7E83-47C8-9466-A1CE47AC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DDD0-6D3D-4E57-9B05-3BEFE9C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3F35B-A3D4-426F-8BCB-E3B812F5C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5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9EFAE-2926-4E5B-8E13-D190D243AD8A}"/>
              </a:ext>
            </a:extLst>
          </p:cNvPr>
          <p:cNvSpPr/>
          <p:nvPr/>
        </p:nvSpPr>
        <p:spPr>
          <a:xfrm>
            <a:off x="88900" y="2857500"/>
            <a:ext cx="8991600" cy="114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C2CD9-C966-45BF-8676-D9B0BBFE4EEE}"/>
              </a:ext>
            </a:extLst>
          </p:cNvPr>
          <p:cNvSpPr/>
          <p:nvPr/>
        </p:nvSpPr>
        <p:spPr>
          <a:xfrm>
            <a:off x="88900" y="2952750"/>
            <a:ext cx="8991600" cy="57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19200"/>
            <a:ext cx="7772400" cy="1362075"/>
          </a:xfrm>
        </p:spPr>
        <p:txBody>
          <a:bodyPr anchor="t">
            <a:noAutofit/>
          </a:bodyPr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242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6404819-B724-434A-A7EA-03DA87AC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82C5D-0BD7-44EB-87ED-C50CE7BCD64E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ADEE0A-49AB-4576-96FE-946EDD78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F667E9-C4C5-4F19-A7D9-C0A66447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43E24-F503-4A8D-972A-68D6B058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F15C03-10F8-44E4-ACC5-A33E27EF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12ADC-4BAD-42FC-9FCA-3B264F0878D5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A899E-44E5-44F2-BE86-59D91DCD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0D59-1439-4885-A59F-14757165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52E12-AF2F-4418-ABAD-280DD74FB2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9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8E59FF-926D-4CD4-85D3-42DAB89F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7AE71-2050-417C-85EB-57EAD9B6DFA2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9A4FB8-5FD8-46F3-A0B6-967C0D8F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8D685A-7EF8-49C1-9291-4DAD6B36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D525E-E15D-4696-BC9C-A12243BD8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2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84942F-42E3-4E6B-9EF5-B21495B1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DE09F-8A26-4D3C-ABF3-9AB43B971576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AC3168-E387-4C86-89AD-C6E81354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BC0E79-28E3-4FE5-BBB7-1318CD5B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FC654-A73B-4C6B-8377-8213458D0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5300E6-8FDE-4287-99CA-110837F4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90D71-FC43-4727-8063-F4F29C38F712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2AD970-F2F4-4A95-908D-393194DB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9F930A-3946-47F1-B465-96272EF5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EAE8-9718-4B03-B8BA-36F3B1712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77F01E-916E-4182-B433-0B2F5FA9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E1534-A264-4242-848A-2514C7A1B74C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52AE20-60C6-40A7-9781-ADBC8994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0F2E3B-8379-4C8E-A627-FAE764FE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A036C-1607-4B18-AEAA-5707C5D3E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C91E8C-2128-4D73-8E77-64FFAB66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4AA1C-271B-4B39-912B-6CD323D3D2FE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E652DA-97F8-4D17-8918-63E7E74E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0CDA65-6C32-4C34-9F02-27F08841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39-5E34-44CB-998C-1319E5642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8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58E6-D8D3-44EE-B37A-BF0B5BA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65A6B-1B4E-4550-892E-88C6BABE978B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DC0F-AAEB-4250-B5FE-E046378F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DD26-1E72-4543-AD67-7DD7084A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4F007-3FC8-4AC9-8F98-65423296F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3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0848-A4CF-4B87-82E5-7B1F76A8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A2196-B5B2-4213-B887-8ED503E3F97C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8260-C6D3-403F-87CD-5FB84BC8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5503-ED1D-4078-AECF-AF30DD42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520AA-61C8-42F4-A7A2-5118B02E1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C75A5AF-41E8-4760-9637-D05802E287A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ACCED7B-1C98-4A49-BBCB-3A49B67F8D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B0A1-DCD9-4396-A09A-B923D1915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37A46B3-1C96-4462-A216-097057D6FDF1}" type="datetime1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92D3-1713-4B7C-8D41-BEFAB7B22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D0665-194C-46A0-A549-20DD4672683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35470-FC79-4012-88FB-69780E57E307}"/>
              </a:ext>
            </a:extLst>
          </p:cNvPr>
          <p:cNvSpPr/>
          <p:nvPr/>
        </p:nvSpPr>
        <p:spPr>
          <a:xfrm>
            <a:off x="9067800" y="0"/>
            <a:ext cx="762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183951-DA6D-451E-A6B5-8B93B6F0B1C9}"/>
              </a:ext>
            </a:extLst>
          </p:cNvPr>
          <p:cNvSpPr/>
          <p:nvPr/>
        </p:nvSpPr>
        <p:spPr>
          <a:xfrm>
            <a:off x="8597900" y="6337300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81974-A739-45C2-895C-DEDA8786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94713" y="6388100"/>
            <a:ext cx="685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69B84678-E314-4EEF-81AD-08CE6B2DA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B4F334-6E3A-4DA7-AB09-8DF4309E7FDA}"/>
              </a:ext>
            </a:extLst>
          </p:cNvPr>
          <p:cNvCxnSpPr/>
          <p:nvPr/>
        </p:nvCxnSpPr>
        <p:spPr>
          <a:xfrm>
            <a:off x="762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105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v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Ø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Courier New" panose="02070309020205020404" pitchFamily="49" charset="0"/>
        <a:buChar char="o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2">
            <a:extLst>
              <a:ext uri="{FF2B5EF4-FFF2-40B4-BE49-F238E27FC236}">
                <a16:creationId xmlns:a16="http://schemas.microsoft.com/office/drawing/2014/main" id="{CBC2DA8F-B1CC-49CD-AD09-57A5370C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900B0F-EC9D-4EFA-B342-4DA1F0606C50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Title 3">
            <a:extLst>
              <a:ext uri="{FF2B5EF4-FFF2-40B4-BE49-F238E27FC236}">
                <a16:creationId xmlns:a16="http://schemas.microsoft.com/office/drawing/2014/main" id="{EB958B24-E593-4E71-96BA-1003C1A417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2209800"/>
            <a:ext cx="8991600" cy="1447800"/>
          </a:xfrm>
        </p:spPr>
        <p:txBody>
          <a:bodyPr/>
          <a:lstStyle/>
          <a:p>
            <a:pPr eaLnBrk="1" hangingPunct="1"/>
            <a:r>
              <a:rPr lang="en-US" altLang="en-US" dirty="0"/>
              <a:t>STRING TRONG PYTHON</a:t>
            </a:r>
          </a:p>
        </p:txBody>
      </p:sp>
      <p:pic>
        <p:nvPicPr>
          <p:cNvPr id="10" name="Picture 2" descr="Image result for python logo">
            <a:extLst>
              <a:ext uri="{FF2B5EF4-FFF2-40B4-BE49-F238E27FC236}">
                <a16:creationId xmlns:a16="http://schemas.microsoft.com/office/drawing/2014/main" id="{D1ED85FA-BF30-4C0C-B468-B9071C4792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2476500" y="3984806"/>
            <a:ext cx="4191000" cy="114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5BAE241-8630-49BE-899C-8C8BAAA9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NỘI DUNG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59DDBF3-6814-4332-BCCE-59D4CA88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05000"/>
            <a:ext cx="7772400" cy="44196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Khái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niệm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và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cấu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trúc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của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chuỗi</a:t>
            </a: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Các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hàm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trên</a:t>
            </a:r>
            <a:r>
              <a:rPr lang="en-US" sz="2800" b="1" dirty="0">
                <a:solidFill>
                  <a:srgbClr val="0070C0"/>
                </a:solidFill>
              </a:rPr>
              <a:t> String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Bài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tập</a:t>
            </a: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124" name="Slide Number Placeholder 24">
            <a:extLst>
              <a:ext uri="{FF2B5EF4-FFF2-40B4-BE49-F238E27FC236}">
                <a16:creationId xmlns:a16="http://schemas.microsoft.com/office/drawing/2014/main" id="{5C96DF24-5F17-41D5-8068-06CDFF80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FBF3B4-35B3-4638-8B43-91463F8D45E9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Image result for python logo">
            <a:extLst>
              <a:ext uri="{FF2B5EF4-FFF2-40B4-BE49-F238E27FC236}">
                <a16:creationId xmlns:a16="http://schemas.microsoft.com/office/drawing/2014/main" id="{6F313E3F-4AB2-470E-AE86-5D03F384A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7525872" y="87569"/>
            <a:ext cx="138952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 dirty="0" err="1">
                <a:solidFill>
                  <a:srgbClr val="0070C0"/>
                </a:solidFill>
              </a:rPr>
              <a:t>Khái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niệm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và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cấu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trúc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của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chuỗi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 algn="just"/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Chuỗi là tập các ký tự nằm trong nháy đơn hoặc nháy đôi, hoặc 3 nháy đơn hoặc 3 nháy đôi. Chuỗi rất quan trọng trong mọi ngôn ngữ, hầu hết ta đều gặp xử lý chuỗi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B49FE-A1F5-4558-A208-DC667AE8B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2733103"/>
            <a:ext cx="4344988" cy="4020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06BDB4-4B7A-B75C-7798-14AFFC28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863127"/>
            <a:ext cx="3825772" cy="34201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E6DCC66E-F11E-E8F9-59F6-C3465AB1B6D4}"/>
              </a:ext>
            </a:extLst>
          </p:cNvPr>
          <p:cNvSpPr/>
          <p:nvPr/>
        </p:nvSpPr>
        <p:spPr>
          <a:xfrm>
            <a:off x="4343400" y="4573226"/>
            <a:ext cx="908054" cy="53217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 dirty="0" err="1">
                <a:solidFill>
                  <a:srgbClr val="0070C0"/>
                </a:solidFill>
              </a:rPr>
              <a:t>Khái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niệm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và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cấu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trúc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của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chuỗi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 algn="just"/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Chuỗi trong Python cũng là đối tượng, nó cung cấp một số hàm rất quan trọng: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87B7C8-E23D-3B8A-79CA-C1B87CD51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49911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8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 dirty="0" err="1">
                <a:solidFill>
                  <a:srgbClr val="0070C0"/>
                </a:solidFill>
              </a:rPr>
              <a:t>Khái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niệm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và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cấu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trúc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của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chuỗi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D041B6-E8E2-08F2-94C6-1973C7BF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9200"/>
            <a:ext cx="8534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en-US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Hàm</a:t>
            </a:r>
            <a:r>
              <a:rPr lang="en-US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upper, lower  =&gt; in HOA-</a:t>
            </a:r>
            <a:r>
              <a:rPr lang="en-US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thường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upper 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đ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a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In HOA</a:t>
            </a: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lower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đ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a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In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th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ư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ờng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B1050-16D3-475F-F5AB-DAA939A50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8" y="2661556"/>
            <a:ext cx="4822207" cy="919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7F94FE-5B2D-198B-0FA3-537B9DCAF6FF}"/>
              </a:ext>
            </a:extLst>
          </p:cNvPr>
          <p:cNvSpPr/>
          <p:nvPr/>
        </p:nvSpPr>
        <p:spPr>
          <a:xfrm>
            <a:off x="5301775" y="2779067"/>
            <a:ext cx="24657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TRẦN DUY THANH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F5C3C1-D739-304C-4371-EBA130A79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88" y="4099832"/>
            <a:ext cx="4426363" cy="7769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369CC1-BFF6-E0B6-FF55-9A9257A74CB4}"/>
              </a:ext>
            </a:extLst>
          </p:cNvPr>
          <p:cNvSpPr/>
          <p:nvPr/>
        </p:nvSpPr>
        <p:spPr>
          <a:xfrm>
            <a:off x="5259881" y="4099832"/>
            <a:ext cx="2034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trần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r>
              <a:rPr lang="en-US" sz="2400" dirty="0"/>
              <a:t> </a:t>
            </a:r>
            <a:r>
              <a:rPr lang="en-US" sz="2400" dirty="0" err="1"/>
              <a:t>thanh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66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Hàm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căn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lề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rjust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, ljust, center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rjust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lề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phải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ljust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lề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trái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centercăn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giữa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  <a:cs typeface="Times New Roman" pitchFamily="18" charset="0"/>
              </a:rPr>
              <a:t>rjust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phải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truyền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thì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tr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ớc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L</a:t>
            </a: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u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ý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ký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nhỏ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h</a:t>
            </a: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gốc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thì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gì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thay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đổi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(tr</a:t>
            </a: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ờng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hợp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rjust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(3, “*”))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73DE4B-0F7A-1B2F-C000-E6476B77F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2" y="4383994"/>
            <a:ext cx="3648075" cy="1609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E3A062-0169-93F5-D5CD-5752BFB47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86" y="4541156"/>
            <a:ext cx="2314575" cy="1295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Arrow: Right 9">
            <a:extLst>
              <a:ext uri="{FF2B5EF4-FFF2-40B4-BE49-F238E27FC236}">
                <a16:creationId xmlns:a16="http://schemas.microsoft.com/office/drawing/2014/main" id="{EB6FC682-F149-8FAE-AB7E-02E0685C963D}"/>
              </a:ext>
            </a:extLst>
          </p:cNvPr>
          <p:cNvSpPr/>
          <p:nvPr/>
        </p:nvSpPr>
        <p:spPr>
          <a:xfrm>
            <a:off x="3833586" y="4998356"/>
            <a:ext cx="1600200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Hàm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căn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lề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rjust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, ljust, center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centercăn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giữa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center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giữa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đẩy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bên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sao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tổng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muốn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truyền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thì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thay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mới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này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Lưu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ý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l</a:t>
            </a: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ợng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căn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giữa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mà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nhỏ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h</a:t>
            </a: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ơ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n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ký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gốc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thì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gì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thay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cs typeface="Times New Roman" pitchFamily="18" charset="0"/>
              </a:rPr>
              <a:t>đổi</a:t>
            </a:r>
            <a:r>
              <a:rPr lang="en-US" sz="2000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A0F1A6-AFF0-8236-D336-77CDED07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3609975" cy="1190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D21318-F18F-3AAB-65C1-827D4AEBC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75" y="4572000"/>
            <a:ext cx="3133725" cy="876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722355D-A697-714B-4DA8-C8AD39D7CA08}"/>
              </a:ext>
            </a:extLst>
          </p:cNvPr>
          <p:cNvSpPr/>
          <p:nvPr/>
        </p:nvSpPr>
        <p:spPr>
          <a:xfrm>
            <a:off x="4076189" y="5065486"/>
            <a:ext cx="1180535" cy="3524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87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Hàm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căn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lề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</a:t>
            </a:r>
            <a:r>
              <a:rPr lang="sv-SE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rjust</a:t>
            </a:r>
            <a:r>
              <a:rPr lang="sv-SE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, ljust, center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ljust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lề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trái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  <a:cs typeface="Times New Roman" pitchFamily="18" charset="0"/>
              </a:rPr>
              <a:t>ljust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căn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trái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truyền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đằng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thì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vi-VN" sz="2000" dirty="0">
                <a:latin typeface="Cambria" panose="02040503050406030204" pitchFamily="18" charset="0"/>
                <a:cs typeface="Times New Roman" pitchFamily="18" charset="0"/>
              </a:rPr>
              <a:t>Lưu ý nếu số ký tự muốn chèn nhỏ hơn Chuỗi gốc thì không có gì thay đổi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9">
            <a:extLst>
              <a:ext uri="{FF2B5EF4-FFF2-40B4-BE49-F238E27FC236}">
                <a16:creationId xmlns:a16="http://schemas.microsoft.com/office/drawing/2014/main" id="{EB6FC682-F149-8FAE-AB7E-02E0685C963D}"/>
              </a:ext>
            </a:extLst>
          </p:cNvPr>
          <p:cNvSpPr/>
          <p:nvPr/>
        </p:nvSpPr>
        <p:spPr>
          <a:xfrm>
            <a:off x="3639801" y="4558278"/>
            <a:ext cx="1600200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8B860C-A33D-051F-420E-44C3373A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0" y="4010591"/>
            <a:ext cx="2791279" cy="185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360F11-AB3E-233A-FE1D-F99494880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113439"/>
            <a:ext cx="1790700" cy="1857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6712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xóa khoảng trắng dư thừa </a:t>
            </a:r>
            <a:r>
              <a:rPr lang="en-US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s</a:t>
            </a: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trip</a:t>
            </a: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xóa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thừa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 strip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4044B6-4A91-1D38-2762-AB77B5E8C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97" y="2372065"/>
            <a:ext cx="5495925" cy="1885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8150DD-85A4-1792-EC98-FF3722E19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288" y="5413772"/>
            <a:ext cx="4705350" cy="1219200"/>
          </a:xfrm>
          <a:prstGeom prst="rect">
            <a:avLst/>
          </a:prstGeom>
        </p:spPr>
      </p:pic>
      <p:sp>
        <p:nvSpPr>
          <p:cNvPr id="12" name="Arrow: Down 9">
            <a:extLst>
              <a:ext uri="{FF2B5EF4-FFF2-40B4-BE49-F238E27FC236}">
                <a16:creationId xmlns:a16="http://schemas.microsoft.com/office/drawing/2014/main" id="{A0E000FD-9DD3-1CD7-1565-25E5241938BD}"/>
              </a:ext>
            </a:extLst>
          </p:cNvPr>
          <p:cNvSpPr/>
          <p:nvPr/>
        </p:nvSpPr>
        <p:spPr>
          <a:xfrm>
            <a:off x="4103460" y="4469606"/>
            <a:ext cx="381000" cy="71913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4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startsWith, endsWith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b="1" dirty="0" err="1">
                <a:latin typeface="Cambria" panose="02040503050406030204" pitchFamily="18" charset="0"/>
                <a:cs typeface="Times New Roman" pitchFamily="18" charset="0"/>
              </a:rPr>
              <a:t>startswith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kiểm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bắt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đầu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 err="1">
                <a:latin typeface="Cambria" panose="02040503050406030204" pitchFamily="18" charset="0"/>
                <a:cs typeface="Times New Roman" pitchFamily="18" charset="0"/>
              </a:rPr>
              <a:t>endswith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kiểm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thúc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7B6CC0-A61A-5BF5-2C28-1616B421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86200"/>
            <a:ext cx="3390900" cy="15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7FEA0A-FEDB-63A3-8BFC-83BA6869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019549"/>
            <a:ext cx="1181100" cy="1247775"/>
          </a:xfrm>
          <a:prstGeom prst="rect">
            <a:avLst/>
          </a:prstGeom>
        </p:spPr>
      </p:pic>
      <p:sp>
        <p:nvSpPr>
          <p:cNvPr id="13" name="Arrow: Right 15">
            <a:extLst>
              <a:ext uri="{FF2B5EF4-FFF2-40B4-BE49-F238E27FC236}">
                <a16:creationId xmlns:a16="http://schemas.microsoft.com/office/drawing/2014/main" id="{0ED5F554-BDE0-FD1F-EDAB-E2ADE6824D6F}"/>
              </a:ext>
            </a:extLst>
          </p:cNvPr>
          <p:cNvSpPr/>
          <p:nvPr/>
        </p:nvSpPr>
        <p:spPr>
          <a:xfrm>
            <a:off x="4075111" y="4438648"/>
            <a:ext cx="1144591" cy="4095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7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find, count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itchFamily="18" charset="0"/>
              </a:rPr>
              <a:t>find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đầu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tiên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tìm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thấy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cs typeface="Times New Roman" pitchFamily="18" charset="0"/>
              </a:rPr>
              <a:t>rfind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cuối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cùng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tìm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thấy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thấy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-1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5">
            <a:extLst>
              <a:ext uri="{FF2B5EF4-FFF2-40B4-BE49-F238E27FC236}">
                <a16:creationId xmlns:a16="http://schemas.microsoft.com/office/drawing/2014/main" id="{0ED5F554-BDE0-FD1F-EDAB-E2ADE6824D6F}"/>
              </a:ext>
            </a:extLst>
          </p:cNvPr>
          <p:cNvSpPr/>
          <p:nvPr/>
        </p:nvSpPr>
        <p:spPr>
          <a:xfrm>
            <a:off x="4075111" y="4438648"/>
            <a:ext cx="1144591" cy="4095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383DC-659C-4EDA-A195-A6C67735B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6" y="3295648"/>
            <a:ext cx="344805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E8B95C-630C-769B-6B4E-E9E46FC0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597" y="4195761"/>
            <a:ext cx="9239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6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itchFamily="18" charset="0"/>
              </a:rPr>
              <a:t>count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lần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hiện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gốc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tồn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tại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0</a:t>
            </a:r>
          </a:p>
          <a:p>
            <a:pPr>
              <a:defRPr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F9367-6EDA-0EB9-1486-172CE7A39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90800"/>
            <a:ext cx="4533900" cy="248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A4133-D1A2-38B1-54EA-1571B014C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977" y="2906486"/>
            <a:ext cx="1346200" cy="1130300"/>
          </a:xfrm>
          <a:prstGeom prst="rect">
            <a:avLst/>
          </a:prstGeom>
        </p:spPr>
      </p:pic>
      <p:sp>
        <p:nvSpPr>
          <p:cNvPr id="12" name="Arrow: Right 9">
            <a:extLst>
              <a:ext uri="{FF2B5EF4-FFF2-40B4-BE49-F238E27FC236}">
                <a16:creationId xmlns:a16="http://schemas.microsoft.com/office/drawing/2014/main" id="{97D72A64-C28E-E478-6532-E4BF70AF75F7}"/>
              </a:ext>
            </a:extLst>
          </p:cNvPr>
          <p:cNvSpPr/>
          <p:nvPr/>
        </p:nvSpPr>
        <p:spPr>
          <a:xfrm>
            <a:off x="5372782" y="3243036"/>
            <a:ext cx="1371600" cy="4572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00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</a:t>
            </a:r>
            <a:r>
              <a:rPr lang="en-US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format, substring</a:t>
            </a: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format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{}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dành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dữ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liệu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5">
            <a:extLst>
              <a:ext uri="{FF2B5EF4-FFF2-40B4-BE49-F238E27FC236}">
                <a16:creationId xmlns:a16="http://schemas.microsoft.com/office/drawing/2014/main" id="{0ED5F554-BDE0-FD1F-EDAB-E2ADE6824D6F}"/>
              </a:ext>
            </a:extLst>
          </p:cNvPr>
          <p:cNvSpPr/>
          <p:nvPr/>
        </p:nvSpPr>
        <p:spPr>
          <a:xfrm>
            <a:off x="4637370" y="2867026"/>
            <a:ext cx="601664" cy="4095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1C556E-9B9D-90D0-F77F-F373D029C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7" y="2419352"/>
            <a:ext cx="4276725" cy="171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4B28E-BDAD-7035-B5A5-864F9C78F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73" y="2943227"/>
            <a:ext cx="33147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7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</a:t>
            </a:r>
            <a:r>
              <a:rPr lang="en-US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format, substring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1264CD6-94B3-0D90-6051-291E54B52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685" y="1676400"/>
            <a:ext cx="4977645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"Hello World!"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:])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llo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World!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(x[: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(x[:-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(x[-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:])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d!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llo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Worl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(x[</a:t>
            </a:r>
            <a:r>
              <a:rPr lang="en-US" alt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:11])</a:t>
            </a:r>
            <a:r>
              <a:rPr lang="en-US" altLang="en-US" sz="2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  <a:r>
              <a:rPr lang="en-US" altLang="en-US" sz="2400" b="1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79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tách chuỗi</a:t>
            </a:r>
          </a:p>
          <a:p>
            <a:pPr marL="0" indent="0">
              <a:buNone/>
              <a:defRPr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split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tách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con</a:t>
            </a:r>
          </a:p>
          <a:p>
            <a:pPr>
              <a:defRPr/>
            </a:pP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5AB2B-96F9-6C32-924A-D3E2D3CD6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2" y="2724150"/>
            <a:ext cx="4743450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40DBC9-DF88-22A3-0EA1-65A75B1E8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828" y="2973841"/>
            <a:ext cx="2238375" cy="942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Arrow: Right 9">
            <a:extLst>
              <a:ext uri="{FF2B5EF4-FFF2-40B4-BE49-F238E27FC236}">
                <a16:creationId xmlns:a16="http://schemas.microsoft.com/office/drawing/2014/main" id="{5B9AEFEB-F112-ABCF-6A19-B3E9E40B1BA2}"/>
              </a:ext>
            </a:extLst>
          </p:cNvPr>
          <p:cNvSpPr/>
          <p:nvPr/>
        </p:nvSpPr>
        <p:spPr>
          <a:xfrm>
            <a:off x="4545805" y="3445329"/>
            <a:ext cx="1371600" cy="4572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6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2. </a:t>
            </a:r>
            <a:r>
              <a:rPr lang="en-US" sz="3200" dirty="0" err="1">
                <a:solidFill>
                  <a:srgbClr val="0070C0"/>
                </a:solidFill>
              </a:rPr>
              <a:t>Các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hàm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trên</a:t>
            </a:r>
            <a:r>
              <a:rPr lang="en-US" sz="3200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>
              <a:defRPr/>
            </a:pP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Hàm </a:t>
            </a:r>
            <a:r>
              <a:rPr lang="en-US" sz="2800" kern="0" dirty="0" err="1">
                <a:solidFill>
                  <a:srgbClr val="002060"/>
                </a:solidFill>
                <a:latin typeface="Cambria" panose="02040503050406030204" pitchFamily="18" charset="0"/>
              </a:rPr>
              <a:t>nối</a:t>
            </a:r>
            <a:r>
              <a:rPr lang="vi-VN" sz="2800" kern="0" dirty="0">
                <a:solidFill>
                  <a:srgbClr val="002060"/>
                </a:solidFill>
                <a:latin typeface="Cambria" panose="02040503050406030204" pitchFamily="18" charset="0"/>
              </a:rPr>
              <a:t> chuỗi</a:t>
            </a: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Hàm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cs typeface="Times New Roman" pitchFamily="18" charset="0"/>
              </a:rPr>
              <a:t>join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>
              <a:defRPr/>
            </a:pP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sz="20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rrow: Right 9">
            <a:extLst>
              <a:ext uri="{FF2B5EF4-FFF2-40B4-BE49-F238E27FC236}">
                <a16:creationId xmlns:a16="http://schemas.microsoft.com/office/drawing/2014/main" id="{5B9AEFEB-F112-ABCF-6A19-B3E9E40B1BA2}"/>
              </a:ext>
            </a:extLst>
          </p:cNvPr>
          <p:cNvSpPr/>
          <p:nvPr/>
        </p:nvSpPr>
        <p:spPr>
          <a:xfrm rot="5400000">
            <a:off x="1743642" y="4536223"/>
            <a:ext cx="627515" cy="45720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3A3B61-FC97-5828-53C2-5E64B003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90" y="2008528"/>
            <a:ext cx="4953000" cy="2343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43991F-5CB1-5EFC-99C4-4B355CF4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90" y="5122635"/>
            <a:ext cx="44196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1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25F4-8E54-B025-F3CB-C4E84577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3. </a:t>
            </a: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CE01A-C8FC-35AD-561A-196844962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vòng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lặp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while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vĩnh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cửu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phép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Nhập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này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phải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đối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xứng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hay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?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Hỏi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ng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ư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ời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sử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dụng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tiếp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tục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phần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mềm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.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Nếu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tiếp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tục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thì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nhập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mới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còn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thì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thoát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và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thông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báo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cảm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ơ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n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59A1B-CA18-D71E-D2B2-6723AFE6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40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52E2C-A334-E039-5831-DA932A59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3. </a:t>
            </a: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FB0F-D634-1278-86EC-910CB7007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gọi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u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chứa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d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thừa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nhau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bởi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trắng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B58A8-87F9-E108-9DDD-AE6277D0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83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4C31-E959-7F8D-DBBF-6DBCD330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3. </a:t>
            </a: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005A-3834-FFD9-71B0-FDFD26E0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Cho 1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Chuỗi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</a:t>
            </a:r>
            <a:r>
              <a:rPr lang="vi-VN" sz="2800" dirty="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“5;7;8;-2;8;11;13;9;10”</a:t>
            </a:r>
          </a:p>
          <a:p>
            <a:pPr>
              <a:buFontTx/>
              <a:buChar char="-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chữ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trên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dòng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riêng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biệt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bao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nhiêu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chữ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chẵn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bao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nhiêu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âm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Xuất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bao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nhiêu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chữ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tố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Tính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trung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bình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19DB1-A577-2A05-3DCA-73BC0E1C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26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6184FF7-DEEF-47A1-9A9A-DD0097D0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alibri(Body)"/>
              </a:rPr>
              <a:t>FAQ</a:t>
            </a:r>
          </a:p>
        </p:txBody>
      </p:sp>
      <p:pic>
        <p:nvPicPr>
          <p:cNvPr id="35843" name="Picture 6">
            <a:extLst>
              <a:ext uri="{FF2B5EF4-FFF2-40B4-BE49-F238E27FC236}">
                <a16:creationId xmlns:a16="http://schemas.microsoft.com/office/drawing/2014/main" id="{B788FFF5-0A29-4150-B189-30FF380DD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19200"/>
            <a:ext cx="5278438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A593F-6EF9-4302-BF31-B4014183E7A4}"/>
              </a:ext>
            </a:extLst>
          </p:cNvPr>
          <p:cNvCxnSpPr/>
          <p:nvPr/>
        </p:nvCxnSpPr>
        <p:spPr>
          <a:xfrm>
            <a:off x="457200" y="990600"/>
            <a:ext cx="8229600" cy="15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ED0F3CA8-F36D-487A-A924-2ADD066F8B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129588" y="5734050"/>
            <a:ext cx="609600" cy="520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CC241A-78C4-4544-B917-F8DD6A2B851C}" type="slidenum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aster_TrungKi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SlideMaster_TrungKien</Template>
  <TotalTime>4553</TotalTime>
  <Words>816</Words>
  <Application>Microsoft Macintosh PowerPoint</Application>
  <PresentationFormat>On-screen Show (4:3)</PresentationFormat>
  <Paragraphs>169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Calibri(Body)</vt:lpstr>
      <vt:lpstr>Cambria</vt:lpstr>
      <vt:lpstr>Courier New</vt:lpstr>
      <vt:lpstr>Times New Roman</vt:lpstr>
      <vt:lpstr>Verdana</vt:lpstr>
      <vt:lpstr>Wingdings</vt:lpstr>
      <vt:lpstr>SlideMaster_TrungKien</vt:lpstr>
      <vt:lpstr>STRING TRONG PYTHON</vt:lpstr>
      <vt:lpstr>NỘI DUNG</vt:lpstr>
      <vt:lpstr>Khái niệm và cấu trúc của chuỗi</vt:lpstr>
      <vt:lpstr>Khái niệm và cấu trúc của chuỗi</vt:lpstr>
      <vt:lpstr>Khái niệm và cấu trúc của chuỗi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2. Các hàm trên String</vt:lpstr>
      <vt:lpstr>3. Bài tập</vt:lpstr>
      <vt:lpstr>3. Bài tập</vt:lpstr>
      <vt:lpstr>3. Bài tập</vt:lpstr>
      <vt:lpstr>FAQ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Trung Kien</dc:creator>
  <cp:lastModifiedBy>Lê Thị Hồng Nga</cp:lastModifiedBy>
  <cp:revision>466</cp:revision>
  <dcterms:created xsi:type="dcterms:W3CDTF">2007-08-28T06:01:43Z</dcterms:created>
  <dcterms:modified xsi:type="dcterms:W3CDTF">2026-01-27T05:43:42Z</dcterms:modified>
</cp:coreProperties>
</file>