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XrOxAYGQSemrOqbbe0UFwnuoj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the acknowledgement page(s) at the end.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:notes"/>
          <p:cNvSpPr txBox="1"/>
          <p:nvPr>
            <p:ph idx="1" type="body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" name="Google Shape;2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d6b44986c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" name="Google Shape;32;g31d6b44986c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1d6b44986c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" name="Google Shape;38;g31d6b44986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d6b44986c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" name="Google Shape;44;g31d6b44986c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d6b44986c_0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g31d6b44986c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d6b44986c_0_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" name="Google Shape;58;g31d6b44986c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d6b44986c_0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" name="Google Shape;64;g31d6b44986c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d6b44986c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" name="Google Shape;70;g31d6b44986c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d6b44986c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" name="Google Shape;76;g31d6b44986c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d6b44986c_0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2" name="Google Shape;82;g31d6b44986c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d6b44986c_0_1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g31d6b44986c_0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d6b44986c_0_1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4" name="Google Shape;94;g31d6b44986c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d6b44986c_0_1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0" name="Google Shape;100;g31d6b44986c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d6b44986c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g31d6b44986c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d6b44986c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g31d6b44986c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d6b44986c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8" name="Google Shape;118;g31d6b44986c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d6b44986c_0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4" name="Google Shape;124;g31d6b44986c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d6b44986c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g31d6b44986c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d6b44986c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" name="Google Shape;136;g31d6b44986c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d6b44986c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" name="Google Shape;142;g31d6b44986c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" type="obj">
  <p:cSld name="OBJEC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9"/>
          <p:cNvSpPr txBox="1"/>
          <p:nvPr>
            <p:ph type="title"/>
          </p:nvPr>
        </p:nvSpPr>
        <p:spPr>
          <a:xfrm>
            <a:off x="650081" y="864394"/>
            <a:ext cx="7836694" cy="173593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49"/>
          <p:cNvSpPr txBox="1"/>
          <p:nvPr>
            <p:ph idx="1" type="body"/>
          </p:nvPr>
        </p:nvSpPr>
        <p:spPr>
          <a:xfrm>
            <a:off x="650081" y="2650331"/>
            <a:ext cx="7836694" cy="5929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0"/>
          <p:cNvSpPr txBox="1"/>
          <p:nvPr>
            <p:ph idx="1" type="body"/>
          </p:nvPr>
        </p:nvSpPr>
        <p:spPr>
          <a:xfrm>
            <a:off x="650081" y="1464469"/>
            <a:ext cx="7836750" cy="3207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bin"/>
              <a:buChar char="•"/>
              <a:defRPr sz="3200"/>
            </a:lvl1pPr>
            <a:lvl2pPr indent="-278637" lvl="1" marL="9144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2pPr>
            <a:lvl3pPr indent="-278638" lvl="2" marL="13716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3pPr>
            <a:lvl4pPr indent="-278638" lvl="3" marL="18288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4pPr>
            <a:lvl5pPr indent="-278638" lvl="4" marL="22860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5pPr>
            <a:lvl6pPr indent="-278638" lvl="5" marL="27432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6pPr>
            <a:lvl7pPr indent="-278638" lvl="6" marL="32004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7pPr>
            <a:lvl8pPr indent="-278638" lvl="7" marL="36576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8pPr>
            <a:lvl9pPr indent="-278638" lvl="8" marL="41148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le Only">
  <p:cSld name="T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2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650081" y="864394"/>
            <a:ext cx="7836694" cy="173593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650081" y="2650331"/>
            <a:ext cx="7836694" cy="5929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8"/>
          <p:cNvSpPr/>
          <p:nvPr/>
        </p:nvSpPr>
        <p:spPr>
          <a:xfrm>
            <a:off x="0" y="0"/>
            <a:ext cx="9144000" cy="43205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ill Sans"/>
              <a:buNone/>
            </a:pPr>
            <a:r>
              <a:t/>
            </a:r>
            <a:endParaRPr b="0" i="0" sz="2025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48"/>
          <p:cNvSpPr/>
          <p:nvPr/>
        </p:nvSpPr>
        <p:spPr>
          <a:xfrm>
            <a:off x="0" y="4701159"/>
            <a:ext cx="9144000" cy="4423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ill Sans"/>
              <a:buNone/>
            </a:pPr>
            <a:r>
              <a:t/>
            </a:r>
            <a:endParaRPr b="0" i="0" sz="2025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python.org" TargetMode="External"/><Relationship Id="rId4" Type="http://schemas.openxmlformats.org/officeDocument/2006/relationships/hyperlink" Target="https://realpython.com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>
            <p:ph type="title"/>
          </p:nvPr>
        </p:nvSpPr>
        <p:spPr>
          <a:xfrm>
            <a:off x="650075" y="864400"/>
            <a:ext cx="83157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050" lIns="21050" spcFirstLastPara="1" rIns="21050" wrap="square" tIns="2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Advanced OOP Concepts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Why Learn Advanced OOP?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Build more complex and efficient systems.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Facilitate real-world application design.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Encourage reusable and scalable code.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1d6b44986c_0_4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Inheritance?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35" name="Google Shape;35;g31d6b44986c_0_4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Mechanism where a child class acquires properties and behaviors of a parent class.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Example:</a:t>
            </a:r>
            <a:endParaRPr sz="2300">
              <a:solidFill>
                <a:srgbClr val="FFFFFF"/>
              </a:solidFill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Parent Class: </a:t>
            </a:r>
            <a:r>
              <a:rPr b="1" i="1" lang="en" sz="2300">
                <a:solidFill>
                  <a:srgbClr val="FFFFFF"/>
                </a:solidFill>
              </a:rPr>
              <a:t>Person</a:t>
            </a:r>
            <a:endParaRPr b="1" i="1" sz="2300">
              <a:solidFill>
                <a:srgbClr val="FFFFFF"/>
              </a:solidFill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Child Class: </a:t>
            </a:r>
            <a:r>
              <a:rPr b="1" i="1" lang="en" sz="2300">
                <a:solidFill>
                  <a:srgbClr val="FFFFFF"/>
                </a:solidFill>
              </a:rPr>
              <a:t>Student</a:t>
            </a:r>
            <a:endParaRPr b="1" i="1"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d6b44986c_0_1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Example: Inheritance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41" name="Google Shape;41;g31d6b44986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025" y="1519575"/>
            <a:ext cx="6448225" cy="340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d6b44986c_0_18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Polymorphism?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47" name="Google Shape;47;g31d6b44986c_0_18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The ability of different objects to respond to the same function call in their own way.</a:t>
            </a:r>
            <a:endParaRPr b="1" i="1" sz="2300">
              <a:solidFill>
                <a:srgbClr val="FFFFFF"/>
              </a:solidFill>
            </a:endParaRPr>
          </a:p>
        </p:txBody>
      </p:sp>
      <p:pic>
        <p:nvPicPr>
          <p:cNvPr id="48" name="Google Shape;48;g31d6b44986c_0_18"/>
          <p:cNvPicPr preferRelativeResize="0"/>
          <p:nvPr/>
        </p:nvPicPr>
        <p:blipFill rotWithShape="1">
          <a:blip r:embed="rId3">
            <a:alphaModFix/>
          </a:blip>
          <a:srcRect b="24630" l="0" r="0" t="0"/>
          <a:stretch/>
        </p:blipFill>
        <p:spPr>
          <a:xfrm>
            <a:off x="1394875" y="2571750"/>
            <a:ext cx="4868101" cy="238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g31d6b44986c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3900" y="2550528"/>
            <a:ext cx="2682701" cy="7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d6b44986c_0_103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Why Work with Multiple Objects?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55" name="Google Shape;55;g31d6b44986c_0_103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Real-world applications often require handling multiple objects simultaneously.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 Managing a list of students in a school system or books in a library.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1d6b44986c_0_11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Why Work with Multiple Objects?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61" name="Google Shape;61;g31d6b44986c_0_110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How to Work with Objects?</a:t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Use collections like lists to store objects.</a:t>
            </a:r>
            <a:endParaRPr sz="2300">
              <a:solidFill>
                <a:srgbClr val="FFFFFF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Iterate through objects to perform operations (e.g., printing details, updating attributes).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d6b44986c_0_115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Using Objects in OOP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67" name="Google Shape;67;g31d6b44986c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625" y="1487150"/>
            <a:ext cx="6682706" cy="340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d6b44986c_0_3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Method Overriding?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73" name="Google Shape;73;g31d6b44986c_0_32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Redefining a parent class method in the child class to modify its behavior.</a:t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Example: </a:t>
            </a:r>
            <a:endParaRPr sz="2300">
              <a:solidFill>
                <a:srgbClr val="FFFFFF"/>
              </a:solidFill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A child class </a:t>
            </a:r>
            <a:r>
              <a:rPr b="1" i="1" lang="en" sz="2300">
                <a:solidFill>
                  <a:srgbClr val="FFFFFF"/>
                </a:solidFill>
              </a:rPr>
              <a:t>Student</a:t>
            </a:r>
            <a:r>
              <a:rPr lang="en" sz="2300">
                <a:solidFill>
                  <a:srgbClr val="FFFFFF"/>
                </a:solidFill>
              </a:rPr>
              <a:t> overrides the </a:t>
            </a:r>
            <a:r>
              <a:rPr b="1" i="1" lang="en" sz="2300">
                <a:solidFill>
                  <a:srgbClr val="FFFFFF"/>
                </a:solidFill>
              </a:rPr>
              <a:t>greet</a:t>
            </a:r>
            <a:r>
              <a:rPr lang="en" sz="2300">
                <a:solidFill>
                  <a:srgbClr val="FFFFFF"/>
                </a:solidFill>
              </a:rPr>
              <a:t> method of the parent class </a:t>
            </a:r>
            <a:r>
              <a:rPr b="1" i="1" lang="en" sz="2300">
                <a:solidFill>
                  <a:srgbClr val="FFFFFF"/>
                </a:solidFill>
              </a:rPr>
              <a:t>Person</a:t>
            </a:r>
            <a:r>
              <a:rPr lang="en" sz="2300">
                <a:solidFill>
                  <a:srgbClr val="FFFFFF"/>
                </a:solidFill>
              </a:rPr>
              <a:t>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d6b44986c_0_39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Example: Method Overriding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79" name="Google Shape;79;g31d6b44986c_0_39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Redefining a parent class method in the child class to modify its behavior.</a:t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Example: </a:t>
            </a:r>
            <a:endParaRPr sz="2300">
              <a:solidFill>
                <a:srgbClr val="FFFFFF"/>
              </a:solidFill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A child class </a:t>
            </a:r>
            <a:r>
              <a:rPr b="1" i="1" lang="en" sz="2300">
                <a:solidFill>
                  <a:srgbClr val="FFFFFF"/>
                </a:solidFill>
              </a:rPr>
              <a:t>Student</a:t>
            </a:r>
            <a:r>
              <a:rPr lang="en" sz="2300">
                <a:solidFill>
                  <a:srgbClr val="FFFFFF"/>
                </a:solidFill>
              </a:rPr>
              <a:t> overrides the </a:t>
            </a:r>
            <a:r>
              <a:rPr b="1" i="1" lang="en" sz="2300">
                <a:solidFill>
                  <a:srgbClr val="FFFFFF"/>
                </a:solidFill>
              </a:rPr>
              <a:t>greet</a:t>
            </a:r>
            <a:r>
              <a:rPr lang="en" sz="2300">
                <a:solidFill>
                  <a:srgbClr val="FFFFFF"/>
                </a:solidFill>
              </a:rPr>
              <a:t> method of the parent class </a:t>
            </a:r>
            <a:r>
              <a:rPr b="1" i="1" lang="en" sz="2300">
                <a:solidFill>
                  <a:srgbClr val="FFFFFF"/>
                </a:solidFill>
              </a:rPr>
              <a:t>Person</a:t>
            </a:r>
            <a:r>
              <a:rPr lang="en" sz="2300">
                <a:solidFill>
                  <a:srgbClr val="FFFFFF"/>
                </a:solidFill>
              </a:rPr>
              <a:t>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d6b44986c_0_12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Enhancing Encapsulation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85" name="Google Shape;85;g31d6b44986c_0_122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Protect sensitive methods and attributes in complex systems.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Enable subclass access using protected attributes.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Use property decorators (@property) for advanced data access control.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d6b44986c_0_13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Enhancing Encapsulation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91" name="Google Shape;91;g31d6b44986c_0_130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Why It Matters?</a:t>
            </a:r>
            <a:endParaRPr sz="2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Prevent unauthorized changes to sensitive data.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Allow controlled modification of critical attributes.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d6b44986c_0_135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Enhancing Encapsulation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97" name="Google Shape;97;g31d6b44986c_0_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750" y="1428825"/>
            <a:ext cx="7018516" cy="34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d6b44986c_0_14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Enhancing Encapsulation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03" name="Google Shape;103;g31d6b44986c_0_141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Why It Matters?</a:t>
            </a:r>
            <a:endParaRPr sz="2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Prevent unauthorized changes to sensitive data.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Allow controlled modification of critical attributes.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d6b44986c_0_45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Design Patterns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09" name="Google Shape;109;g31d6b44986c_0_45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Templates for solving common programming problems.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Types: Creational (e.g., Singleton), Structural (e.g., Adapter), Behavioral (e.g., Observer).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d6b44986c_0_5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OOP in Real-World Systems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15" name="Google Shape;115;g31d6b44986c_0_52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 A library management system using inheritance, polymorphism, and encapsulation.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6b44986c_0_66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OOP in Real-World Systems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21" name="Google Shape;121;g31d6b44986c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875" y="1678450"/>
            <a:ext cx="7493050" cy="21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6b44986c_0_77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OOP in Real-World Systems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27" name="Google Shape;127;g31d6b44986c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863" y="1581225"/>
            <a:ext cx="6934881" cy="340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d6b44986c_0_83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OOP in Real-World Systems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33" name="Google Shape;133;g31d6b44986c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175" y="1804875"/>
            <a:ext cx="7322799" cy="29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d6b44986c_0_96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Where to Learn More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39" name="Google Shape;139;g31d6b44986c_0_96"/>
          <p:cNvSpPr txBox="1"/>
          <p:nvPr>
            <p:ph idx="1" type="body"/>
          </p:nvPr>
        </p:nvSpPr>
        <p:spPr>
          <a:xfrm>
            <a:off x="650075" y="1569450"/>
            <a:ext cx="7216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Links and References:</a:t>
            </a:r>
            <a:endParaRPr sz="2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Python Documentation:</a:t>
            </a:r>
            <a:r>
              <a:rPr lang="en" sz="23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https://docs.python.org</a:t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OOP Best Practices:</a:t>
            </a:r>
            <a:r>
              <a:rPr lang="en" sz="23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https://realpython.com</a:t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Design Patterns in Python: https://refactoring.guru/design-patterns/python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d6b44986c_0_6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Summary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45" name="Google Shape;145;g31d6b44986c_0_60"/>
          <p:cNvSpPr txBox="1"/>
          <p:nvPr>
            <p:ph idx="1" type="body"/>
          </p:nvPr>
        </p:nvSpPr>
        <p:spPr>
          <a:xfrm>
            <a:off x="650075" y="1569450"/>
            <a:ext cx="8246400" cy="3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Inheritance: Enables reusability by sharing behaviors across parent and child classes.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Polymorphism: Allows flexibility by enabling different objects to use the same interface.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Design Patterns: Provides reusable solutions to common software problems.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