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6" r:id="rId1"/>
  </p:sldMasterIdLst>
  <p:notesMasterIdLst>
    <p:notesMasterId r:id="rId28"/>
  </p:notesMasterIdLst>
  <p:sldIdLst>
    <p:sldId id="256" r:id="rId2"/>
    <p:sldId id="265" r:id="rId3"/>
    <p:sldId id="276" r:id="rId4"/>
    <p:sldId id="381" r:id="rId5"/>
    <p:sldId id="382" r:id="rId6"/>
    <p:sldId id="383" r:id="rId7"/>
    <p:sldId id="384" r:id="rId8"/>
    <p:sldId id="385" r:id="rId9"/>
    <p:sldId id="396" r:id="rId10"/>
    <p:sldId id="386" r:id="rId11"/>
    <p:sldId id="387" r:id="rId12"/>
    <p:sldId id="388" r:id="rId13"/>
    <p:sldId id="389" r:id="rId14"/>
    <p:sldId id="390" r:id="rId15"/>
    <p:sldId id="391" r:id="rId16"/>
    <p:sldId id="397" r:id="rId17"/>
    <p:sldId id="398" r:id="rId18"/>
    <p:sldId id="399" r:id="rId19"/>
    <p:sldId id="400" r:id="rId20"/>
    <p:sldId id="401" r:id="rId21"/>
    <p:sldId id="380" r:id="rId22"/>
    <p:sldId id="392" r:id="rId23"/>
    <p:sldId id="393" r:id="rId24"/>
    <p:sldId id="394" r:id="rId25"/>
    <p:sldId id="395" r:id="rId26"/>
    <p:sldId id="304" r:id="rId2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53" autoAdjust="0"/>
    <p:restoredTop sz="95545" autoAdjust="0"/>
  </p:normalViewPr>
  <p:slideViewPr>
    <p:cSldViewPr>
      <p:cViewPr varScale="1">
        <p:scale>
          <a:sx n="124" d="100"/>
          <a:sy n="124" d="100"/>
        </p:scale>
        <p:origin x="162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D51BF50-0F84-441F-8386-03A4B72383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A54E82-B9F2-416B-88D1-8A75A102582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AA111E2F-E82A-430E-9357-CFD2047D2679}" type="datetimeFigureOut">
              <a:rPr lang="en-US"/>
              <a:pPr>
                <a:defRPr/>
              </a:pPr>
              <a:t>2/20/24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55CE690-CCEF-4202-9203-E2C7486294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6330005-79A3-42C9-823E-47967F984E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CE974-FED9-49FB-BFDE-38F60DE930B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127394-4773-43EF-8D24-A43A9B4A4D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86FF5448-A2F0-4A49-8EF3-5ABB5A8FD3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VN" dirty="0"/>
              <a:t>opy mảng a qua mảng b</a:t>
            </a:r>
          </a:p>
          <a:p>
            <a:r>
              <a:rPr lang="en-US" dirty="0"/>
              <a:t>A</a:t>
            </a:r>
            <a:r>
              <a:rPr lang="en-VN" dirty="0"/>
              <a:t>=[10,20,30]</a:t>
            </a:r>
          </a:p>
          <a:p>
            <a:r>
              <a:rPr lang="en-US" dirty="0"/>
              <a:t>P</a:t>
            </a:r>
            <a:r>
              <a:rPr lang="en-VN" dirty="0"/>
              <a:t>rint(a[0])</a:t>
            </a:r>
          </a:p>
          <a:p>
            <a:r>
              <a:rPr lang="en-US" dirty="0"/>
              <a:t>B</a:t>
            </a:r>
            <a:r>
              <a:rPr lang="en-VN" dirty="0"/>
              <a:t>=a[:]</a:t>
            </a:r>
          </a:p>
          <a:p>
            <a:r>
              <a:rPr lang="en-US" dirty="0"/>
              <a:t>B</a:t>
            </a:r>
            <a:r>
              <a:rPr lang="en-VN" dirty="0"/>
              <a:t>[0]=100</a:t>
            </a:r>
          </a:p>
          <a:p>
            <a:r>
              <a:rPr lang="en-US" dirty="0"/>
              <a:t>P</a:t>
            </a:r>
            <a:r>
              <a:rPr lang="en-VN"/>
              <a:t>rint(a[0])</a:t>
            </a:r>
            <a:endParaRPr lang="en-VN" dirty="0"/>
          </a:p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FF5448-A2F0-4A49-8EF3-5ABB5A8FD321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464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FF5448-A2F0-4A49-8EF3-5ABB5A8FD321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8912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VN" dirty="0"/>
              <a:t>Đọc mảng số nguyên 1 dòng biết trước n</a:t>
            </a:r>
          </a:p>
          <a:p>
            <a:r>
              <a:rPr lang="vi-VN" dirty="0"/>
              <a:t>N = int(input())</a:t>
            </a:r>
          </a:p>
          <a:p>
            <a:r>
              <a:rPr lang="vi-VN" dirty="0"/>
              <a:t>A= list(map(int, input().split()))</a:t>
            </a:r>
          </a:p>
          <a:p>
            <a:endParaRPr lang="vi-VN" dirty="0"/>
          </a:p>
          <a:p>
            <a:r>
              <a:rPr lang="vi-VN" dirty="0"/>
              <a:t>Đọc mảng số nguyên n dòng biết trước n</a:t>
            </a:r>
          </a:p>
          <a:p>
            <a:r>
              <a:rPr lang="vi-VN" dirty="0"/>
              <a:t>N=int(input())</a:t>
            </a:r>
          </a:p>
          <a:p>
            <a:r>
              <a:rPr lang="vi-VN" dirty="0"/>
              <a:t>A=[]</a:t>
            </a:r>
          </a:p>
          <a:p>
            <a:r>
              <a:rPr lang="vi-VN" dirty="0"/>
              <a:t>For i in range(n):</a:t>
            </a:r>
          </a:p>
          <a:p>
            <a:pPr lvl="1"/>
            <a:r>
              <a:rPr lang="vi-VN" dirty="0"/>
              <a:t>X=int(input())</a:t>
            </a:r>
          </a:p>
          <a:p>
            <a:pPr lvl="1"/>
            <a:r>
              <a:rPr lang="vi-VN" dirty="0"/>
              <a:t>a.append(x)</a:t>
            </a:r>
          </a:p>
          <a:p>
            <a:pPr lvl="1"/>
            <a:endParaRPr lang="vi-VN" dirty="0"/>
          </a:p>
          <a:p>
            <a:r>
              <a:rPr lang="vi-VN" dirty="0"/>
              <a:t>Đọc mảng số nguyên n dòng, không biết trước n</a:t>
            </a:r>
          </a:p>
          <a:p>
            <a:r>
              <a:rPr lang="vi-VN" dirty="0"/>
              <a:t>A=[]</a:t>
            </a:r>
          </a:p>
          <a:p>
            <a:r>
              <a:rPr lang="vi-VN" dirty="0"/>
              <a:t>While(true)</a:t>
            </a:r>
          </a:p>
          <a:p>
            <a:r>
              <a:rPr lang="vi-VN" dirty="0"/>
              <a:t>      x= int(input())</a:t>
            </a:r>
          </a:p>
          <a:p>
            <a:r>
              <a:rPr lang="vi-VN" dirty="0"/>
              <a:t>      if(x==0):</a:t>
            </a:r>
          </a:p>
          <a:p>
            <a:r>
              <a:rPr lang="vi-VN" dirty="0"/>
              <a:t>	break</a:t>
            </a:r>
          </a:p>
          <a:p>
            <a:r>
              <a:rPr lang="vi-VN" dirty="0"/>
              <a:t>      a.append(x)</a:t>
            </a:r>
          </a:p>
          <a:p>
            <a:br>
              <a:rPr lang="vi-VN" dirty="0"/>
            </a:br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FF5448-A2F0-4A49-8EF3-5ABB5A8FD321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0105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2F4C21E2-4EE3-4B1A-B958-441156F62C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776F18D0-7082-4623-91FA-1EB5860F88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vi-VN" altLang="en-US"/>
          </a:p>
          <a:p>
            <a:endParaRPr lang="vi-VN" altLang="en-US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F2D825D5-84CA-4E5B-99F5-583AE73DF1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BA90C7A-0D45-417D-95AF-F0FA8C8AB7FE}" type="slidenum">
              <a:rPr lang="en-US" altLang="en-US" smtClean="0">
                <a:latin typeface="Calibri" panose="020F0502020204030204" pitchFamily="34" charset="0"/>
              </a:rPr>
              <a:pPr/>
              <a:t>26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43000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84579-C751-40AD-87A4-0938E7E44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F7D5C9-F607-42AC-BCDA-50763776D168}" type="datetime1">
              <a:rPr lang="en-US"/>
              <a:pPr>
                <a:defRPr/>
              </a:pPr>
              <a:t>2/20/24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CEDD1-A46D-4F12-AE83-63B85B47E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D3E9D-09B7-423C-B88A-FE1B306A9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3BC8E-587B-4B4B-AD9C-66AB623D5F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07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1"/>
            <a:ext cx="82296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EBDE9-5997-4292-8F05-87EC2D69F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10137F-940E-465E-85F2-3AA49F753A10}" type="datetime1">
              <a:rPr lang="en-US"/>
              <a:pPr>
                <a:defRPr/>
              </a:pPr>
              <a:t>2/20/24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60929-7E83-47C8-9466-A1CE47AC9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BDDD0-6D3D-4E57-9B05-3BEFE9C3F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93F35B-A3D4-426F-8BCB-E3B812F5CB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553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19EFAE-2926-4E5B-8E13-D190D243AD8A}"/>
              </a:ext>
            </a:extLst>
          </p:cNvPr>
          <p:cNvSpPr/>
          <p:nvPr/>
        </p:nvSpPr>
        <p:spPr>
          <a:xfrm>
            <a:off x="88900" y="2857500"/>
            <a:ext cx="8991600" cy="114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5C2CD9-C966-45BF-8676-D9B0BBFE4EEE}"/>
              </a:ext>
            </a:extLst>
          </p:cNvPr>
          <p:cNvSpPr/>
          <p:nvPr/>
        </p:nvSpPr>
        <p:spPr>
          <a:xfrm>
            <a:off x="88900" y="2952750"/>
            <a:ext cx="8991600" cy="571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219200"/>
            <a:ext cx="7772400" cy="1362075"/>
          </a:xfrm>
        </p:spPr>
        <p:txBody>
          <a:bodyPr anchor="t">
            <a:noAutofit/>
          </a:bodyPr>
          <a:lstStyle>
            <a:lvl1pPr algn="l">
              <a:defRPr sz="44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242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6404819-B724-434A-A7EA-03DA87AC2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182C5D-0BD7-44EB-87ED-C50CE7BCD64E}" type="datetime1">
              <a:rPr lang="en-US"/>
              <a:pPr>
                <a:defRPr/>
              </a:pPr>
              <a:t>2/20/24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EADEE0A-49AB-4576-96FE-946EDD789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FF667E9-C4C5-4F19-A7D9-C0A66447E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C43E24-F503-4A8D-972A-68D6B0581F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33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4F15C03-10F8-44E4-ACC5-A33E27EF5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212ADC-4BAD-42FC-9FCA-3B264F0878D5}" type="datetime1">
              <a:rPr lang="en-US"/>
              <a:pPr>
                <a:defRPr/>
              </a:pPr>
              <a:t>2/20/24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50A899E-44E5-44F2-BE86-59D91DCDA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3F30D59-1439-4885-A59F-147571657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C52E12-AF2F-4418-ABAD-280DD74FB2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79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D8E59FF-926D-4CD4-85D3-42DAB89FA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47AE71-2050-417C-85EB-57EAD9B6DFA2}" type="datetime1">
              <a:rPr lang="en-US"/>
              <a:pPr>
                <a:defRPr/>
              </a:pPr>
              <a:t>2/20/24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A9A4FB8-5FD8-46F3-A0B6-967C0D8F6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A8D685A-7EF8-49C1-9291-4DAD6B368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FD525E-E15D-4696-BC9C-A12243BD8A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21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D84942F-42E3-4E6B-9EF5-B21495B15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ADE09F-8A26-4D3C-ABF3-9AB43B971576}" type="datetime1">
              <a:rPr lang="en-US"/>
              <a:pPr>
                <a:defRPr/>
              </a:pPr>
              <a:t>2/20/24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3AC3168-E387-4C86-89AD-C6E813548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CBC0E79-28E3-4FE5-BBB7-1318CD5BF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1FC654-A73B-4C6B-8377-8213458D03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88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45300E6-8FDE-4287-99CA-110837F43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290D71-FC43-4727-8063-F4F29C38F712}" type="datetime1">
              <a:rPr lang="en-US"/>
              <a:pPr>
                <a:defRPr/>
              </a:pPr>
              <a:t>2/20/24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D2AD970-F2F4-4A95-908D-393194DB8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99F930A-3946-47F1-B465-96272EF5B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BEAE8-9718-4B03-B8BA-36F3B1712D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0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C77F01E-916E-4182-B433-0B2F5FA94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7E1534-A264-4242-848A-2514C7A1B74C}" type="datetime1">
              <a:rPr lang="en-US"/>
              <a:pPr>
                <a:defRPr/>
              </a:pPr>
              <a:t>2/20/24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152AE20-60C6-40A7-9781-ADBC89948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70F2E3B-8379-4C8E-A627-FAE764FE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FA036C-1607-4B18-AEAA-5707C5D3E8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1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5C91E8C-2128-4D73-8E77-64FFAB66B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44AA1C-271B-4B39-912B-6CD323D3D2FE}" type="datetime1">
              <a:rPr lang="en-US"/>
              <a:pPr>
                <a:defRPr/>
              </a:pPr>
              <a:t>2/20/24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1E652DA-97F8-4D17-8918-63E7E74E9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00CDA65-6C32-4C34-9F02-27F08841D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A70039-5E34-44CB-998C-1319E56422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189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C58E6-D8D3-44EE-B37A-BF0B5BA4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65A6B-1B4E-4550-892E-88C6BABE978B}" type="datetime1">
              <a:rPr lang="en-US"/>
              <a:pPr>
                <a:defRPr/>
              </a:pPr>
              <a:t>2/20/24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5DC0F-AAEB-4250-B5FE-E046378FD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3DD26-1E72-4543-AD67-7DD7084AA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C4F007-3FC8-4AC9-8F98-65423296F3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736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F0848-A4CF-4B87-82E5-7B1F76A8A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A2196-B5B2-4213-B887-8ED503E3F97C}" type="datetime1">
              <a:rPr lang="en-US"/>
              <a:pPr>
                <a:defRPr/>
              </a:pPr>
              <a:t>2/20/24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D8260-C6D3-403F-87CD-5FB84BC87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35503-ED1D-4078-AECF-AF30DD42D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520AA-61C8-42F4-A7A2-5118B02E1C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627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8C75A5AF-41E8-4760-9637-D05802E287A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5ACCED7B-1C98-4A49-BBCB-3A49B67F8D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504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BB0A1-DCD9-4396-A09A-B923D19155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F37A46B3-1C96-4462-A216-097057D6FDF1}" type="datetime1">
              <a:rPr lang="en-US"/>
              <a:pPr>
                <a:defRPr/>
              </a:pPr>
              <a:t>2/20/24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892D3-1713-4B7C-8D41-BEFAB7B229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4D0665-194C-46A0-A549-20DD46726839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D35470-FC79-4012-88FB-69780E57E307}"/>
              </a:ext>
            </a:extLst>
          </p:cNvPr>
          <p:cNvSpPr/>
          <p:nvPr/>
        </p:nvSpPr>
        <p:spPr>
          <a:xfrm>
            <a:off x="9067800" y="0"/>
            <a:ext cx="76200" cy="685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E183951-DA6D-451E-A6B5-8B93B6F0B1C9}"/>
              </a:ext>
            </a:extLst>
          </p:cNvPr>
          <p:cNvSpPr/>
          <p:nvPr/>
        </p:nvSpPr>
        <p:spPr>
          <a:xfrm>
            <a:off x="8597900" y="6337300"/>
            <a:ext cx="4572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81974-A739-45C2-895C-DEDA8786A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94713" y="6388100"/>
            <a:ext cx="685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2060"/>
                </a:solidFill>
              </a:defRPr>
            </a:lvl1pPr>
          </a:lstStyle>
          <a:p>
            <a:pPr>
              <a:defRPr/>
            </a:pPr>
            <a:fld id="{69B84678-E314-4EEF-81AD-08CE6B2DA7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B4F334-6E3A-4DA7-AB09-8DF4309E7FDA}"/>
              </a:ext>
            </a:extLst>
          </p:cNvPr>
          <p:cNvCxnSpPr/>
          <p:nvPr/>
        </p:nvCxnSpPr>
        <p:spPr>
          <a:xfrm>
            <a:off x="76200" y="0"/>
            <a:ext cx="0" cy="6858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5" r:id="rId1"/>
    <p:sldLayoutId id="2147484096" r:id="rId2"/>
    <p:sldLayoutId id="2147484105" r:id="rId3"/>
    <p:sldLayoutId id="2147484097" r:id="rId4"/>
    <p:sldLayoutId id="2147484098" r:id="rId5"/>
    <p:sldLayoutId id="2147484099" r:id="rId6"/>
    <p:sldLayoutId id="2147484100" r:id="rId7"/>
    <p:sldLayoutId id="2147484101" r:id="rId8"/>
    <p:sldLayoutId id="2147484102" r:id="rId9"/>
    <p:sldLayoutId id="2147484103" r:id="rId10"/>
    <p:sldLayoutId id="2147484104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002060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E46C0A"/>
        </a:buClr>
        <a:buFont typeface="Wingdings" panose="05000000000000000000" pitchFamily="2" charset="2"/>
        <a:buChar char="v"/>
        <a:defRPr sz="2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E46C0A"/>
        </a:buClr>
        <a:buFont typeface="Wingdings" panose="05000000000000000000" pitchFamily="2" charset="2"/>
        <a:buChar char="q"/>
        <a:defRPr sz="2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E46C0A"/>
        </a:buClr>
        <a:buFont typeface="Wingdings" panose="05000000000000000000" pitchFamily="2" charset="2"/>
        <a:buChar char="Ø"/>
        <a:defRPr sz="2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E46C0A"/>
        </a:buClr>
        <a:buFont typeface="Courier New" panose="02070309020205020404" pitchFamily="49" charset="0"/>
        <a:buChar char="o"/>
        <a:defRPr sz="2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2">
            <a:extLst>
              <a:ext uri="{FF2B5EF4-FFF2-40B4-BE49-F238E27FC236}">
                <a16:creationId xmlns:a16="http://schemas.microsoft.com/office/drawing/2014/main" id="{CBC2DA8F-B1CC-49CD-AD09-57A5370C3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C900B0F-EC9D-4EFA-B342-4DA1F0606C50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9" name="Title 3">
            <a:extLst>
              <a:ext uri="{FF2B5EF4-FFF2-40B4-BE49-F238E27FC236}">
                <a16:creationId xmlns:a16="http://schemas.microsoft.com/office/drawing/2014/main" id="{EB958B24-E593-4E71-96BA-1003C1A4174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6200" y="2209800"/>
            <a:ext cx="8991600" cy="1447800"/>
          </a:xfrm>
        </p:spPr>
        <p:txBody>
          <a:bodyPr/>
          <a:lstStyle/>
          <a:p>
            <a:pPr eaLnBrk="1" hangingPunct="1"/>
            <a:r>
              <a:rPr lang="en-US" altLang="en-US"/>
              <a:t>LIST TRONG PYTHON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033CBE-0919-4126-9462-21A740B529E2}"/>
              </a:ext>
            </a:extLst>
          </p:cNvPr>
          <p:cNvSpPr txBox="1">
            <a:spLocks/>
          </p:cNvSpPr>
          <p:nvPr/>
        </p:nvSpPr>
        <p:spPr bwMode="auto">
          <a:xfrm>
            <a:off x="914400" y="1676400"/>
            <a:ext cx="7239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3200" b="1">
                <a:solidFill>
                  <a:srgbClr val="002060"/>
                </a:solidFill>
              </a:rPr>
              <a:t>CHƯƠNG 6</a:t>
            </a:r>
          </a:p>
        </p:txBody>
      </p:sp>
      <p:pic>
        <p:nvPicPr>
          <p:cNvPr id="10" name="Picture 2" descr="Image result for python logo">
            <a:extLst>
              <a:ext uri="{FF2B5EF4-FFF2-40B4-BE49-F238E27FC236}">
                <a16:creationId xmlns:a16="http://schemas.microsoft.com/office/drawing/2014/main" id="{D1ED85FA-BF30-4C0C-B468-B9071C4792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42" t="11823" r="5229" b="21182"/>
          <a:stretch/>
        </p:blipFill>
        <p:spPr bwMode="auto">
          <a:xfrm>
            <a:off x="2476500" y="3984806"/>
            <a:ext cx="4191000" cy="1149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35BAE241-8630-49BE-899C-8C8BAAA97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NỘI DUNG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659DDBF3-6814-4332-BCCE-59D4CA883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905000"/>
            <a:ext cx="6781800" cy="4419600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r>
              <a:rPr lang="en-US" sz="2800" b="1" dirty="0" err="1">
                <a:solidFill>
                  <a:srgbClr val="0070C0"/>
                </a:solidFill>
              </a:rPr>
              <a:t>Khai</a:t>
            </a:r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800" b="1" dirty="0" err="1">
                <a:solidFill>
                  <a:srgbClr val="0070C0"/>
                </a:solidFill>
              </a:rPr>
              <a:t>báo</a:t>
            </a:r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800" b="1" dirty="0" err="1">
                <a:solidFill>
                  <a:srgbClr val="0070C0"/>
                </a:solidFill>
              </a:rPr>
              <a:t>và</a:t>
            </a:r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800" b="1" dirty="0" err="1">
                <a:solidFill>
                  <a:srgbClr val="0070C0"/>
                </a:solidFill>
              </a:rPr>
              <a:t>sử</a:t>
            </a:r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800" b="1" dirty="0" err="1">
                <a:solidFill>
                  <a:srgbClr val="0070C0"/>
                </a:solidFill>
              </a:rPr>
              <a:t>dụng</a:t>
            </a:r>
            <a:r>
              <a:rPr lang="en-US" sz="2800" b="1" dirty="0">
                <a:solidFill>
                  <a:srgbClr val="0070C0"/>
                </a:solidFill>
              </a:rPr>
              <a:t> LIST</a:t>
            </a:r>
          </a:p>
          <a:p>
            <a:pPr marL="514350" indent="-514350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r>
              <a:rPr lang="en-US" sz="2800" b="1" dirty="0" err="1">
                <a:solidFill>
                  <a:srgbClr val="0070C0"/>
                </a:solidFill>
              </a:rPr>
              <a:t>Duyệt</a:t>
            </a:r>
            <a:r>
              <a:rPr lang="en-US" sz="2800" b="1" dirty="0">
                <a:solidFill>
                  <a:srgbClr val="0070C0"/>
                </a:solidFill>
              </a:rPr>
              <a:t> List</a:t>
            </a:r>
          </a:p>
          <a:p>
            <a:pPr marL="514350" indent="-514350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r>
              <a:rPr lang="en-US" sz="2800" b="1" dirty="0" err="1">
                <a:solidFill>
                  <a:srgbClr val="0070C0"/>
                </a:solidFill>
              </a:rPr>
              <a:t>Gán</a:t>
            </a:r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800" b="1" dirty="0" err="1">
                <a:solidFill>
                  <a:srgbClr val="0070C0"/>
                </a:solidFill>
              </a:rPr>
              <a:t>giá</a:t>
            </a:r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800" b="1" dirty="0" err="1">
                <a:solidFill>
                  <a:srgbClr val="0070C0"/>
                </a:solidFill>
              </a:rPr>
              <a:t>trị</a:t>
            </a:r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800" b="1" dirty="0" err="1">
                <a:solidFill>
                  <a:srgbClr val="0070C0"/>
                </a:solidFill>
              </a:rPr>
              <a:t>cho</a:t>
            </a:r>
            <a:r>
              <a:rPr lang="en-US" sz="2800" b="1" dirty="0">
                <a:solidFill>
                  <a:srgbClr val="0070C0"/>
                </a:solidFill>
              </a:rPr>
              <a:t> List</a:t>
            </a:r>
          </a:p>
          <a:p>
            <a:pPr marL="514350" indent="-514350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r>
              <a:rPr lang="en-US" sz="2800" b="1" dirty="0" err="1">
                <a:solidFill>
                  <a:srgbClr val="0070C0"/>
                </a:solidFill>
              </a:rPr>
              <a:t>Các</a:t>
            </a:r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800" b="1" dirty="0" err="1">
                <a:solidFill>
                  <a:srgbClr val="0070C0"/>
                </a:solidFill>
              </a:rPr>
              <a:t>ph</a:t>
            </a:r>
            <a:r>
              <a:rPr lang="vi-VN" sz="2800" b="1" dirty="0">
                <a:solidFill>
                  <a:srgbClr val="0070C0"/>
                </a:solidFill>
              </a:rPr>
              <a:t>ư</a:t>
            </a:r>
            <a:r>
              <a:rPr lang="en-US" sz="2800" b="1" dirty="0" err="1">
                <a:solidFill>
                  <a:srgbClr val="0070C0"/>
                </a:solidFill>
              </a:rPr>
              <a:t>ơng</a:t>
            </a:r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800" b="1" dirty="0" err="1">
                <a:solidFill>
                  <a:srgbClr val="0070C0"/>
                </a:solidFill>
              </a:rPr>
              <a:t>thức</a:t>
            </a:r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800" b="1" dirty="0" err="1">
                <a:solidFill>
                  <a:srgbClr val="0070C0"/>
                </a:solidFill>
              </a:rPr>
              <a:t>trên</a:t>
            </a:r>
            <a:r>
              <a:rPr lang="en-US" sz="2800" b="1" dirty="0">
                <a:solidFill>
                  <a:srgbClr val="0070C0"/>
                </a:solidFill>
              </a:rPr>
              <a:t> List</a:t>
            </a:r>
          </a:p>
          <a:p>
            <a:pPr marL="514350" indent="-514350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r>
              <a:rPr lang="en-US" sz="2800" b="1" dirty="0">
                <a:solidFill>
                  <a:srgbClr val="0070C0"/>
                </a:solidFill>
              </a:rPr>
              <a:t>List </a:t>
            </a:r>
            <a:r>
              <a:rPr lang="en-US" sz="2800" b="1" dirty="0" err="1">
                <a:solidFill>
                  <a:srgbClr val="0070C0"/>
                </a:solidFill>
              </a:rPr>
              <a:t>đa</a:t>
            </a:r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800" b="1" dirty="0" err="1">
                <a:solidFill>
                  <a:srgbClr val="0070C0"/>
                </a:solidFill>
              </a:rPr>
              <a:t>chiều</a:t>
            </a:r>
            <a:endParaRPr lang="en-US" sz="2800" b="1" dirty="0">
              <a:solidFill>
                <a:srgbClr val="0070C0"/>
              </a:solidFill>
            </a:endParaRPr>
          </a:p>
          <a:p>
            <a:pPr marL="514350" indent="-514350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r>
              <a:rPr lang="en-US" sz="2800" b="1" dirty="0" err="1">
                <a:solidFill>
                  <a:srgbClr val="0070C0"/>
                </a:solidFill>
              </a:rPr>
              <a:t>Bài</a:t>
            </a:r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800" b="1" dirty="0" err="1">
                <a:solidFill>
                  <a:srgbClr val="0070C0"/>
                </a:solidFill>
              </a:rPr>
              <a:t>tập</a:t>
            </a:r>
            <a:endParaRPr lang="en-US" sz="2800" b="1" dirty="0">
              <a:solidFill>
                <a:srgbClr val="0070C0"/>
              </a:solidFill>
            </a:endParaRPr>
          </a:p>
          <a:p>
            <a:pPr marL="514350" indent="-514350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endParaRPr lang="en-US" sz="2800" kern="0" dirty="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514350" indent="-514350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endParaRPr lang="en-US" sz="2800" b="1" dirty="0">
              <a:solidFill>
                <a:srgbClr val="0070C0"/>
              </a:solidFill>
            </a:endParaRPr>
          </a:p>
          <a:p>
            <a:pPr marL="514350" indent="-514350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endParaRPr lang="en-US" sz="2800" b="1" dirty="0">
              <a:solidFill>
                <a:srgbClr val="0070C0"/>
              </a:solidFill>
            </a:endParaRPr>
          </a:p>
          <a:p>
            <a:pPr marL="514350" indent="-514350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5124" name="Slide Number Placeholder 24">
            <a:extLst>
              <a:ext uri="{FF2B5EF4-FFF2-40B4-BE49-F238E27FC236}">
                <a16:creationId xmlns:a16="http://schemas.microsoft.com/office/drawing/2014/main" id="{5C96DF24-5F17-41D5-8068-06CDFF80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5FBF3B4-35B3-4638-8B43-91463F8D45E9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2" descr="Image result for python logo">
            <a:extLst>
              <a:ext uri="{FF2B5EF4-FFF2-40B4-BE49-F238E27FC236}">
                <a16:creationId xmlns:a16="http://schemas.microsoft.com/office/drawing/2014/main" id="{6F313E3F-4AB2-470E-AE86-5D03F384AE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42" t="11823" r="5229" b="21182"/>
          <a:stretch/>
        </p:blipFill>
        <p:spPr bwMode="auto">
          <a:xfrm>
            <a:off x="7525872" y="87569"/>
            <a:ext cx="1389528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marL="514350" indent="-514350"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r>
              <a:rPr lang="en-US" sz="3200">
                <a:solidFill>
                  <a:srgbClr val="0070C0"/>
                </a:solidFill>
              </a:rPr>
              <a:t>Khai báo và sử dụng List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212" y="914400"/>
            <a:ext cx="8534401" cy="5943600"/>
          </a:xfrm>
        </p:spPr>
        <p:txBody>
          <a:bodyPr/>
          <a:lstStyle/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List trong Python là một đối tượng dùng để l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u tập các đối t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ợng khác. List có thể chứa bất kỳ kiểu dữ liệu nào. Tuy nhiên ta nên thống nhất một kiểu để dễ dàng trong quá trình xử lý.</a:t>
            </a: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Khai báo list rỗng:</a:t>
            </a:r>
          </a:p>
          <a:p>
            <a:pPr marL="0" indent="0" algn="just">
              <a:buNone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lst = []</a:t>
            </a: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Khai báo list có các giá trị:</a:t>
            </a:r>
          </a:p>
          <a:p>
            <a:pPr marL="0" indent="0" algn="just">
              <a:buNone/>
            </a:pPr>
            <a:r>
              <a:rPr lang="sv-SE" sz="2800">
                <a:latin typeface="Times New Roman" panose="02020603050405020304" pitchFamily="18" charset="0"/>
                <a:cs typeface="Times New Roman" panose="02020603050405020304" pitchFamily="18" charset="0"/>
              </a:rPr>
              <a:t>	lst = [2, -3, 0, 4, -1]</a:t>
            </a:r>
          </a:p>
          <a:p>
            <a:pPr algn="just"/>
            <a:r>
              <a:rPr lang="sv-SE" sz="2800">
                <a:latin typeface="Times New Roman" panose="02020603050405020304" pitchFamily="18" charset="0"/>
                <a:cs typeface="Times New Roman" panose="02020603050405020304" pitchFamily="18" charset="0"/>
              </a:rPr>
              <a:t>Khai báo list có 10 phần 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ử với giá trị mặc định là 0:</a:t>
            </a:r>
          </a:p>
          <a:p>
            <a:pPr marL="0" indent="0" algn="just">
              <a:buNone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lst=[0]*10</a:t>
            </a:r>
          </a:p>
          <a:p>
            <a:pPr algn="just"/>
            <a:r>
              <a:rPr lang="sv-SE" sz="2800">
                <a:latin typeface="Times New Roman" panose="02020603050405020304" pitchFamily="18" charset="0"/>
                <a:cs typeface="Times New Roman" panose="02020603050405020304" pitchFamily="18" charset="0"/>
              </a:rPr>
              <a:t>Khai báo list có 10 phần 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ử với giá trị mặc định là 0.5:</a:t>
            </a:r>
          </a:p>
          <a:p>
            <a:pPr marL="0" indent="0" algn="just">
              <a:buNone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lst=[0.5]*10</a:t>
            </a: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marL="514350" indent="-514350"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r>
              <a:rPr lang="en-US" sz="3200">
                <a:solidFill>
                  <a:srgbClr val="0070C0"/>
                </a:solidFill>
              </a:rPr>
              <a:t>Khai báo và sử dụng List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066800"/>
            <a:ext cx="8304213" cy="57912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Ví dụ:</a:t>
            </a:r>
          </a:p>
          <a:p>
            <a:pPr marL="0" indent="0" algn="just">
              <a:buNone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lst=[5,-3,12]</a:t>
            </a:r>
          </a:p>
          <a:p>
            <a:pPr marL="0" indent="0" algn="just">
              <a:buNone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print(lst[0])</a:t>
            </a:r>
          </a:p>
          <a:p>
            <a:pPr marL="0" indent="0" algn="just">
              <a:buNone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print(lst)</a:t>
            </a:r>
          </a:p>
          <a:p>
            <a:pPr marL="0" indent="0" algn="just">
              <a:buNone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print(len(lst))</a:t>
            </a: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CBE596-902D-49EF-82CC-2378039BC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496654"/>
            <a:ext cx="3362325" cy="18954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4546734-462A-4470-BC81-D9463B448931}"/>
              </a:ext>
            </a:extLst>
          </p:cNvPr>
          <p:cNvSpPr/>
          <p:nvPr/>
        </p:nvSpPr>
        <p:spPr>
          <a:xfrm>
            <a:off x="4238267" y="4084073"/>
            <a:ext cx="221384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  <a:p>
            <a:pPr>
              <a:spcBef>
                <a:spcPts val="600"/>
              </a:spcBef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[5, -3, 12]</a:t>
            </a:r>
          </a:p>
          <a:p>
            <a:pPr>
              <a:spcBef>
                <a:spcPts val="600"/>
              </a:spcBef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87488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2. Duyệt List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066800"/>
            <a:ext cx="8304213" cy="57912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>
                <a:latin typeface="Cambria" panose="02040503050406030204" pitchFamily="18" charset="0"/>
                <a:cs typeface="Times New Roman" pitchFamily="18" charset="0"/>
              </a:rPr>
              <a:t>Với Python, ta có thể duyệt list theo nhiều cách. </a:t>
            </a:r>
          </a:p>
          <a:p>
            <a:pPr algn="just">
              <a:buFontTx/>
              <a:buChar char="-"/>
            </a:pPr>
            <a:r>
              <a:rPr lang="en-US" sz="2800">
                <a:latin typeface="Cambria" panose="02040503050406030204" pitchFamily="18" charset="0"/>
                <a:cs typeface="Times New Roman" pitchFamily="18" charset="0"/>
              </a:rPr>
              <a:t>Duyệt theo collection</a:t>
            </a:r>
          </a:p>
          <a:p>
            <a:pPr algn="just">
              <a:buFontTx/>
              <a:buChar char="-"/>
            </a:pPr>
            <a:r>
              <a:rPr lang="en-US" sz="2800">
                <a:latin typeface="Cambria" panose="02040503050406030204" pitchFamily="18" charset="0"/>
                <a:cs typeface="Times New Roman" pitchFamily="18" charset="0"/>
              </a:rPr>
              <a:t>Duyệt theo chỉ số index</a:t>
            </a:r>
          </a:p>
          <a:p>
            <a:pPr marL="0" indent="0" algn="just">
              <a:buNone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708928-0E0A-442A-96FF-331C79330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751961"/>
            <a:ext cx="4212319" cy="40012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1A227D-2865-401A-AB95-287A1C033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082" y="3628565"/>
            <a:ext cx="4379567" cy="1686385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816FE39-7F01-4EA2-A14D-35BB350738AE}"/>
              </a:ext>
            </a:extLst>
          </p:cNvPr>
          <p:cNvCxnSpPr>
            <a:cxnSpLocks/>
          </p:cNvCxnSpPr>
          <p:nvPr/>
        </p:nvCxnSpPr>
        <p:spPr>
          <a:xfrm>
            <a:off x="2971800" y="3705225"/>
            <a:ext cx="1600200" cy="25717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D3652BA-70EC-4C64-9944-4194458B3A49}"/>
              </a:ext>
            </a:extLst>
          </p:cNvPr>
          <p:cNvCxnSpPr>
            <a:cxnSpLocks/>
          </p:cNvCxnSpPr>
          <p:nvPr/>
        </p:nvCxnSpPr>
        <p:spPr>
          <a:xfrm flipV="1">
            <a:off x="2971800" y="4572001"/>
            <a:ext cx="1659282" cy="48577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7EE81A8-2C7F-4C31-A3D1-0E50642A6159}"/>
              </a:ext>
            </a:extLst>
          </p:cNvPr>
          <p:cNvCxnSpPr>
            <a:cxnSpLocks/>
          </p:cNvCxnSpPr>
          <p:nvPr/>
        </p:nvCxnSpPr>
        <p:spPr>
          <a:xfrm flipV="1">
            <a:off x="3007175" y="5467350"/>
            <a:ext cx="1695908" cy="113347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932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3. Gán giá trị cho List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066800"/>
            <a:ext cx="8304213" cy="5791200"/>
          </a:xfrm>
        </p:spPr>
        <p:txBody>
          <a:bodyPr/>
          <a:lstStyle/>
          <a:p>
            <a:pPr marL="0" indent="0" algn="just">
              <a:buNone/>
            </a:pPr>
            <a:r>
              <a:rPr lang="sv-SE" sz="2800">
                <a:latin typeface="Cambria" panose="02040503050406030204" pitchFamily="18" charset="0"/>
                <a:cs typeface="Times New Roman" pitchFamily="18" charset="0"/>
              </a:rPr>
              <a:t>lst = [2, 4, 6, 8] </a:t>
            </a:r>
            <a:r>
              <a:rPr lang="sv-SE" sz="280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 lst tham chiếu t</a:t>
            </a:r>
            <a:r>
              <a:rPr lang="en-US" sz="280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ới List</a:t>
            </a:r>
          </a:p>
          <a:p>
            <a:pPr marL="0" indent="0" algn="just">
              <a:buNone/>
            </a:pPr>
            <a:r>
              <a:rPr lang="en-US" sz="2800">
                <a:latin typeface="Cambria" panose="02040503050406030204" pitchFamily="18" charset="0"/>
                <a:cs typeface="Times New Roman" pitchFamily="18" charset="0"/>
                <a:sym typeface="Wingdings" panose="05000000000000000000" pitchFamily="2" charset="2"/>
              </a:rPr>
              <a:t>lst[2]  tham chiếu tới phần tử thứ 2 (giá trị =6)</a:t>
            </a:r>
            <a:endParaRPr lang="en-US" sz="280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B544FF-A4CB-4A16-A511-9031A64AA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362200"/>
            <a:ext cx="6200775" cy="14001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E0B54F4-72F5-4709-8D65-1064BB450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4606" y="4027230"/>
            <a:ext cx="6286500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499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3. Gán giá trị cho List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066800"/>
            <a:ext cx="8304213" cy="5791200"/>
          </a:xfrm>
        </p:spPr>
        <p:txBody>
          <a:bodyPr/>
          <a:lstStyle/>
          <a:p>
            <a:pPr marL="0" indent="0" algn="just">
              <a:buNone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0095F4-3C11-4BA0-A3F5-45F26292F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50" y="1066800"/>
            <a:ext cx="4216475" cy="16979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9B026A-DCF0-4774-BE64-F3CA65E3EF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890"/>
          <a:stretch/>
        </p:blipFill>
        <p:spPr>
          <a:xfrm>
            <a:off x="3333727" y="3031359"/>
            <a:ext cx="4343400" cy="372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452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4. Các ph</a:t>
            </a:r>
            <a:r>
              <a:rPr lang="vi-VN" sz="3200">
                <a:solidFill>
                  <a:srgbClr val="0070C0"/>
                </a:solidFill>
              </a:rPr>
              <a:t>ương</a:t>
            </a:r>
            <a:r>
              <a:rPr lang="en-US" sz="3200">
                <a:solidFill>
                  <a:srgbClr val="0070C0"/>
                </a:solidFill>
              </a:rPr>
              <a:t> thức trong List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5C4EE011-BA89-4B05-BA6D-734C34AA0F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0447089"/>
              </p:ext>
            </p:extLst>
          </p:nvPr>
        </p:nvGraphicFramePr>
        <p:xfrm>
          <a:off x="343693" y="1096855"/>
          <a:ext cx="8571707" cy="520342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241980">
                  <a:extLst>
                    <a:ext uri="{9D8B030D-6E8A-4147-A177-3AD203B41FA5}">
                      <a16:colId xmlns:a16="http://schemas.microsoft.com/office/drawing/2014/main" val="2155762840"/>
                    </a:ext>
                  </a:extLst>
                </a:gridCol>
                <a:gridCol w="6329727">
                  <a:extLst>
                    <a:ext uri="{9D8B030D-6E8A-4147-A177-3AD203B41FA5}">
                      <a16:colId xmlns:a16="http://schemas.microsoft.com/office/drawing/2014/main" val="1077042625"/>
                    </a:ext>
                  </a:extLst>
                </a:gridCol>
              </a:tblGrid>
              <a:tr h="389406">
                <a:tc>
                  <a:txBody>
                    <a:bodyPr/>
                    <a:lstStyle/>
                    <a:p>
                      <a:r>
                        <a:rPr lang="vi-VN" sz="2000">
                          <a:effectLst/>
                        </a:rPr>
                        <a:t>Phương thức</a:t>
                      </a:r>
                      <a:endParaRPr lang="vi-VN" sz="2000">
                        <a:effectLst/>
                        <a:latin typeface="+mj-lt"/>
                      </a:endParaRPr>
                    </a:p>
                  </a:txBody>
                  <a:tcPr marL="46811" marR="46811" marT="46811" marB="46811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Mô tả</a:t>
                      </a:r>
                      <a:endParaRPr lang="en-US" sz="2000">
                        <a:effectLst/>
                        <a:latin typeface="+mj-lt"/>
                      </a:endParaRPr>
                    </a:p>
                  </a:txBody>
                  <a:tcPr marL="46811" marR="46811" marT="46811" marB="46811" anchor="ctr"/>
                </a:tc>
                <a:extLst>
                  <a:ext uri="{0D108BD9-81ED-4DB2-BD59-A6C34878D82A}">
                    <a16:rowId xmlns:a16="http://schemas.microsoft.com/office/drawing/2014/main" val="2448793860"/>
                  </a:ext>
                </a:extLst>
              </a:tr>
              <a:tr h="389406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list.append(obj)</a:t>
                      </a:r>
                      <a:endParaRPr lang="en-US" sz="2000">
                        <a:effectLst/>
                        <a:latin typeface="+mj-lt"/>
                      </a:endParaRPr>
                    </a:p>
                  </a:txBody>
                  <a:tcPr marL="46811" marR="46811" marT="46811" marB="46811" anchor="ctr"/>
                </a:tc>
                <a:tc>
                  <a:txBody>
                    <a:bodyPr/>
                    <a:lstStyle/>
                    <a:p>
                      <a:r>
                        <a:rPr lang="vi-VN" sz="2000"/>
                        <a:t>Nối (append) một đối tượng vào danh sách.</a:t>
                      </a:r>
                      <a:endParaRPr lang="vi-VN" sz="2000">
                        <a:latin typeface="+mj-lt"/>
                      </a:endParaRPr>
                    </a:p>
                  </a:txBody>
                  <a:tcPr marL="46811" marR="46811" marT="46811" marB="46811" anchor="ctr"/>
                </a:tc>
                <a:extLst>
                  <a:ext uri="{0D108BD9-81ED-4DB2-BD59-A6C34878D82A}">
                    <a16:rowId xmlns:a16="http://schemas.microsoft.com/office/drawing/2014/main" val="2394320451"/>
                  </a:ext>
                </a:extLst>
              </a:tr>
              <a:tr h="389406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list.count(obj)</a:t>
                      </a:r>
                      <a:endParaRPr lang="en-US" sz="2000">
                        <a:effectLst/>
                        <a:latin typeface="+mj-lt"/>
                      </a:endParaRPr>
                    </a:p>
                  </a:txBody>
                  <a:tcPr marL="46811" marR="46811" marT="46811" marB="46811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Trả về số lần xuất hiện 'obj' trong danh sách</a:t>
                      </a:r>
                      <a:endParaRPr lang="en-US" sz="2000">
                        <a:latin typeface="+mj-lt"/>
                      </a:endParaRPr>
                    </a:p>
                  </a:txBody>
                  <a:tcPr marL="46811" marR="46811" marT="46811" marB="46811" anchor="ctr"/>
                </a:tc>
                <a:extLst>
                  <a:ext uri="{0D108BD9-81ED-4DB2-BD59-A6C34878D82A}">
                    <a16:rowId xmlns:a16="http://schemas.microsoft.com/office/drawing/2014/main" val="3834844283"/>
                  </a:ext>
                </a:extLst>
              </a:tr>
              <a:tr h="389406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list.extend(seq)</a:t>
                      </a:r>
                      <a:endParaRPr lang="en-US" sz="2000">
                        <a:effectLst/>
                        <a:latin typeface="+mj-lt"/>
                      </a:endParaRPr>
                    </a:p>
                  </a:txBody>
                  <a:tcPr marL="46811" marR="46811" marT="46811" marB="46811" anchor="ctr"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Nối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nội</a:t>
                      </a:r>
                      <a:r>
                        <a:rPr lang="en-US" sz="2000" dirty="0"/>
                        <a:t> dung </a:t>
                      </a:r>
                      <a:r>
                        <a:rPr lang="en-US" sz="2000" dirty="0" err="1"/>
                        <a:t>của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một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dãy</a:t>
                      </a:r>
                      <a:r>
                        <a:rPr lang="en-US" sz="2000" dirty="0"/>
                        <a:t> (sequence) </a:t>
                      </a:r>
                      <a:r>
                        <a:rPr lang="en-US" sz="2000" dirty="0" err="1"/>
                        <a:t>và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danh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sách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46811" marR="46811" marT="46811" marB="46811" anchor="ctr"/>
                </a:tc>
                <a:extLst>
                  <a:ext uri="{0D108BD9-81ED-4DB2-BD59-A6C34878D82A}">
                    <a16:rowId xmlns:a16="http://schemas.microsoft.com/office/drawing/2014/main" val="2517840941"/>
                  </a:ext>
                </a:extLst>
              </a:tr>
              <a:tr h="679729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list.index(obj)</a:t>
                      </a:r>
                      <a:endParaRPr lang="en-US" sz="2000">
                        <a:effectLst/>
                        <a:latin typeface="+mj-lt"/>
                      </a:endParaRPr>
                    </a:p>
                  </a:txBody>
                  <a:tcPr marL="46811" marR="46811" marT="46811" marB="46811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Trả về chỉ số nhỏ nhất trong danh sách tìm thấy phần tử có giá trị là obj.</a:t>
                      </a:r>
                      <a:endParaRPr lang="en-US" sz="2000">
                        <a:latin typeface="+mj-lt"/>
                      </a:endParaRPr>
                    </a:p>
                  </a:txBody>
                  <a:tcPr marL="46811" marR="46811" marT="46811" marB="46811" anchor="ctr"/>
                </a:tc>
                <a:extLst>
                  <a:ext uri="{0D108BD9-81ED-4DB2-BD59-A6C34878D82A}">
                    <a16:rowId xmlns:a16="http://schemas.microsoft.com/office/drawing/2014/main" val="2228455120"/>
                  </a:ext>
                </a:extLst>
              </a:tr>
              <a:tr h="389406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list.insert(index, obj)</a:t>
                      </a:r>
                      <a:endParaRPr lang="en-US" sz="2000">
                        <a:effectLst/>
                        <a:latin typeface="+mj-lt"/>
                      </a:endParaRPr>
                    </a:p>
                  </a:txBody>
                  <a:tcPr marL="46811" marR="46811" marT="46811" marB="46811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</a:t>
                      </a:r>
                      <a:r>
                        <a:rPr lang="en-US" sz="2000" dirty="0"/>
                        <a:t>h</a:t>
                      </a:r>
                      <a:r>
                        <a:rPr lang="en-US" sz="2000"/>
                        <a:t>èn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một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phần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tử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vào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danh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sách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tại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chỉ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số</a:t>
                      </a:r>
                      <a:r>
                        <a:rPr lang="en-US" sz="2000" dirty="0"/>
                        <a:t> index.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46811" marR="46811" marT="46811" marB="46811" anchor="ctr"/>
                </a:tc>
                <a:extLst>
                  <a:ext uri="{0D108BD9-81ED-4DB2-BD59-A6C34878D82A}">
                    <a16:rowId xmlns:a16="http://schemas.microsoft.com/office/drawing/2014/main" val="3129910951"/>
                  </a:ext>
                </a:extLst>
              </a:tr>
              <a:tr h="970051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list.pop([index])</a:t>
                      </a:r>
                      <a:endParaRPr lang="en-US" sz="2000">
                        <a:effectLst/>
                        <a:latin typeface="+mj-lt"/>
                      </a:endParaRPr>
                    </a:p>
                  </a:txBody>
                  <a:tcPr marL="46811" marR="46811" marT="46811" marB="46811" anchor="ctr"/>
                </a:tc>
                <a:tc>
                  <a:txBody>
                    <a:bodyPr/>
                    <a:lstStyle/>
                    <a:p>
                      <a:r>
                        <a:rPr lang="vi-VN" sz="2000"/>
                        <a:t>Nếu có tham số index, loại bỏ và trả về phần tử tại vị trí index. Ngược lại loại bỏ và trả về phần tử cuối cùng của danh sách.</a:t>
                      </a:r>
                      <a:endParaRPr lang="vi-VN" sz="2000">
                        <a:latin typeface="+mj-lt"/>
                      </a:endParaRPr>
                    </a:p>
                  </a:txBody>
                  <a:tcPr marL="46811" marR="46811" marT="46811" marB="46811" anchor="ctr"/>
                </a:tc>
                <a:extLst>
                  <a:ext uri="{0D108BD9-81ED-4DB2-BD59-A6C34878D82A}">
                    <a16:rowId xmlns:a16="http://schemas.microsoft.com/office/drawing/2014/main" val="3504782962"/>
                  </a:ext>
                </a:extLst>
              </a:tr>
              <a:tr h="389406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list.remove(obj)</a:t>
                      </a:r>
                      <a:endParaRPr lang="en-US" sz="2000">
                        <a:effectLst/>
                        <a:latin typeface="+mj-lt"/>
                      </a:endParaRPr>
                    </a:p>
                  </a:txBody>
                  <a:tcPr marL="46811" marR="46811" marT="46811" marB="46811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Loại bỏ phần tử đầu tiên có giá trị là obj ra khỏi danh sách.</a:t>
                      </a:r>
                      <a:endParaRPr lang="en-US" sz="2000">
                        <a:latin typeface="+mj-lt"/>
                      </a:endParaRPr>
                    </a:p>
                  </a:txBody>
                  <a:tcPr marL="46811" marR="46811" marT="46811" marB="46811" anchor="ctr"/>
                </a:tc>
                <a:extLst>
                  <a:ext uri="{0D108BD9-81ED-4DB2-BD59-A6C34878D82A}">
                    <a16:rowId xmlns:a16="http://schemas.microsoft.com/office/drawing/2014/main" val="3077733760"/>
                  </a:ext>
                </a:extLst>
              </a:tr>
              <a:tr h="389406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list.reverse()</a:t>
                      </a:r>
                      <a:endParaRPr lang="en-US" sz="2000">
                        <a:effectLst/>
                        <a:latin typeface="+mj-lt"/>
                      </a:endParaRPr>
                    </a:p>
                  </a:txBody>
                  <a:tcPr marL="46811" marR="46811" marT="46811" marB="46811" anchor="ctr"/>
                </a:tc>
                <a:tc>
                  <a:txBody>
                    <a:bodyPr/>
                    <a:lstStyle/>
                    <a:p>
                      <a:r>
                        <a:rPr lang="vi-VN" sz="2000"/>
                        <a:t>Đảo ngược các phần tử trong danh sách</a:t>
                      </a:r>
                      <a:endParaRPr lang="vi-VN" sz="2000">
                        <a:latin typeface="+mj-lt"/>
                      </a:endParaRPr>
                    </a:p>
                  </a:txBody>
                  <a:tcPr marL="46811" marR="46811" marT="46811" marB="46811" anchor="ctr"/>
                </a:tc>
                <a:extLst>
                  <a:ext uri="{0D108BD9-81ED-4DB2-BD59-A6C34878D82A}">
                    <a16:rowId xmlns:a16="http://schemas.microsoft.com/office/drawing/2014/main" val="2350556564"/>
                  </a:ext>
                </a:extLst>
              </a:tr>
              <a:tr h="679729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list.sort(key=None, reverse=False)</a:t>
                      </a:r>
                      <a:endParaRPr lang="en-US" sz="2000">
                        <a:effectLst/>
                        <a:latin typeface="+mj-lt"/>
                      </a:endParaRPr>
                    </a:p>
                  </a:txBody>
                  <a:tcPr marL="46811" marR="46811" marT="46811" marB="46811" anchor="ctr"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Sắp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xếp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các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phần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tử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theo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khóa</a:t>
                      </a:r>
                      <a:r>
                        <a:rPr lang="en-US" sz="2000" dirty="0"/>
                        <a:t> (key) </a:t>
                      </a:r>
                      <a:r>
                        <a:rPr lang="en-US" sz="2000" dirty="0" err="1"/>
                        <a:t>cung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cấp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bởi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tham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số</a:t>
                      </a:r>
                      <a:r>
                        <a:rPr lang="en-US" sz="2000" dirty="0"/>
                        <a:t>.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46811" marR="46811" marT="46811" marB="46811" anchor="ctr"/>
                </a:tc>
                <a:extLst>
                  <a:ext uri="{0D108BD9-81ED-4DB2-BD59-A6C34878D82A}">
                    <a16:rowId xmlns:a16="http://schemas.microsoft.com/office/drawing/2014/main" val="370257531"/>
                  </a:ext>
                </a:extLst>
              </a:tr>
            </a:tbl>
          </a:graphicData>
        </a:graphic>
      </p:graphicFrame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996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4. Các ph</a:t>
            </a:r>
            <a:r>
              <a:rPr lang="vi-VN" sz="3200">
                <a:solidFill>
                  <a:srgbClr val="0070C0"/>
                </a:solidFill>
              </a:rPr>
              <a:t>ương</a:t>
            </a:r>
            <a:r>
              <a:rPr lang="en-US" sz="3200">
                <a:solidFill>
                  <a:srgbClr val="0070C0"/>
                </a:solidFill>
              </a:rPr>
              <a:t> thức trong List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066800"/>
            <a:ext cx="8304213" cy="5791200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Python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hỗ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trợ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phương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thức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latin typeface="Cambria" panose="02040503050406030204" pitchFamily="18" charset="0"/>
                <a:cs typeface="Times New Roman" pitchFamily="18" charset="0"/>
              </a:rPr>
              <a:t>insert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trong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list.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Tự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động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chèn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vào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vị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trí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thích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hợp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Cú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pháp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	</a:t>
            </a:r>
            <a:r>
              <a:rPr lang="en-US" sz="2800" dirty="0">
                <a:solidFill>
                  <a:schemeClr val="tx2"/>
                </a:solidFill>
                <a:latin typeface="Cambria" panose="02040503050406030204" pitchFamily="18" charset="0"/>
                <a:cs typeface="Times New Roman" pitchFamily="18" charset="0"/>
              </a:rPr>
              <a:t>insert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(</a:t>
            </a:r>
            <a:r>
              <a:rPr lang="en-US" sz="2800" dirty="0" err="1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cs typeface="Times New Roman" pitchFamily="18" charset="0"/>
              </a:rPr>
              <a:t>vị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cs typeface="Times New Roman" pitchFamily="18" charset="0"/>
              </a:rPr>
              <a:t>trí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cs typeface="Times New Roman" pitchFamily="18" charset="0"/>
              </a:rPr>
              <a:t>muốn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cs typeface="Times New Roman" pitchFamily="18" charset="0"/>
              </a:rPr>
              <a:t>chèn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cs typeface="Times New Roman" pitchFamily="18" charset="0"/>
              </a:rPr>
              <a:t>giá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cs typeface="Times New Roman" pitchFamily="18" charset="0"/>
              </a:rPr>
              <a:t>trị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cs typeface="Times New Roman" pitchFamily="18" charset="0"/>
              </a:rPr>
              <a:t>muốn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cs typeface="Times New Roman" pitchFamily="18" charset="0"/>
              </a:rPr>
              <a:t>chèn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):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0C688-861F-4C18-8C0F-7D517B6CB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218709"/>
            <a:ext cx="3200400" cy="21820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87C7C9-6B04-483E-BA48-8C8C6328C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4679339"/>
            <a:ext cx="2976596" cy="1230923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EDBE7CCA-FD2E-4E90-8E6D-3307C21FB906}"/>
              </a:ext>
            </a:extLst>
          </p:cNvPr>
          <p:cNvSpPr/>
          <p:nvPr/>
        </p:nvSpPr>
        <p:spPr>
          <a:xfrm>
            <a:off x="3985268" y="5260387"/>
            <a:ext cx="1342825" cy="516622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904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4. Các ph</a:t>
            </a:r>
            <a:r>
              <a:rPr lang="vi-VN" sz="3200">
                <a:solidFill>
                  <a:srgbClr val="0070C0"/>
                </a:solidFill>
              </a:rPr>
              <a:t>ương</a:t>
            </a:r>
            <a:r>
              <a:rPr lang="en-US" sz="3200">
                <a:solidFill>
                  <a:srgbClr val="0070C0"/>
                </a:solidFill>
              </a:rPr>
              <a:t> thức trong List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066800"/>
            <a:ext cx="8304213" cy="5791200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Python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hỗ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trợ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phương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thức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latin typeface="Cambria" panose="02040503050406030204" pitchFamily="18" charset="0"/>
                <a:cs typeface="Times New Roman" pitchFamily="18" charset="0"/>
              </a:rPr>
              <a:t>append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trong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list.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Chèn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giá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trị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mới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vào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cuối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danh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sách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Ví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dụ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: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CEA6C0-4381-45C6-8854-4CA81C0FD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4267200"/>
            <a:ext cx="3096768" cy="1219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A72511-1DBB-4134-BEE8-CB064DCB1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536" y="4564665"/>
            <a:ext cx="3298370" cy="598714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67568694-0A13-4557-8197-2BCB65E13ED2}"/>
              </a:ext>
            </a:extLst>
          </p:cNvPr>
          <p:cNvSpPr/>
          <p:nvPr/>
        </p:nvSpPr>
        <p:spPr>
          <a:xfrm>
            <a:off x="3630168" y="4708071"/>
            <a:ext cx="1531277" cy="321129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537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4. Các ph</a:t>
            </a:r>
            <a:r>
              <a:rPr lang="vi-VN" sz="3200">
                <a:solidFill>
                  <a:srgbClr val="0070C0"/>
                </a:solidFill>
              </a:rPr>
              <a:t>ương</a:t>
            </a:r>
            <a:r>
              <a:rPr lang="en-US" sz="3200">
                <a:solidFill>
                  <a:srgbClr val="0070C0"/>
                </a:solidFill>
              </a:rPr>
              <a:t> thức trong List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066800"/>
            <a:ext cx="8304213" cy="5791200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Python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hỗ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trợ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phương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thức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latin typeface="Cambria" panose="02040503050406030204" pitchFamily="18" charset="0"/>
                <a:cs typeface="Times New Roman" pitchFamily="18" charset="0"/>
              </a:rPr>
              <a:t>remove.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Ví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dụ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: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Xóa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phần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tử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đầu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tiên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trong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List: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46D2E47-A313-4D87-B58D-199C0B8341DD}"/>
              </a:ext>
            </a:extLst>
          </p:cNvPr>
          <p:cNvSpPr/>
          <p:nvPr/>
        </p:nvSpPr>
        <p:spPr>
          <a:xfrm>
            <a:off x="3582330" y="4463954"/>
            <a:ext cx="1898100" cy="46192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224FF8-0C66-4EBD-A6DB-EE11D679F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114800"/>
            <a:ext cx="3591431" cy="13049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0DE856-806D-4862-855D-3761B5FA6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418" y="4427539"/>
            <a:ext cx="2933196" cy="66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248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4. Các ph</a:t>
            </a:r>
            <a:r>
              <a:rPr lang="vi-VN" sz="3200">
                <a:solidFill>
                  <a:srgbClr val="0070C0"/>
                </a:solidFill>
              </a:rPr>
              <a:t>ương</a:t>
            </a:r>
            <a:r>
              <a:rPr lang="en-US" sz="3200">
                <a:solidFill>
                  <a:srgbClr val="0070C0"/>
                </a:solidFill>
              </a:rPr>
              <a:t> thức trong List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066800"/>
            <a:ext cx="8304213" cy="5791200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Python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hỗ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trợ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phương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thức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latin typeface="Cambria" panose="02040503050406030204" pitchFamily="18" charset="0"/>
                <a:cs typeface="Times New Roman" pitchFamily="18" charset="0"/>
              </a:rPr>
              <a:t>reverse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để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đảo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danh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sách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Ví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dụ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7274BBD-536E-4FC9-8F22-DBC7A65F9EE6}"/>
              </a:ext>
            </a:extLst>
          </p:cNvPr>
          <p:cNvSpPr/>
          <p:nvPr/>
        </p:nvSpPr>
        <p:spPr>
          <a:xfrm>
            <a:off x="4267200" y="4394997"/>
            <a:ext cx="1412088" cy="32940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BB2B85B-121C-470B-BBCE-405306024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90" y="3824165"/>
            <a:ext cx="3563512" cy="16584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6000093-FC4A-4866-AD64-6446B4FDD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189" y="4150144"/>
            <a:ext cx="2465323" cy="87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518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4. Các ph</a:t>
            </a:r>
            <a:r>
              <a:rPr lang="vi-VN" sz="3200">
                <a:solidFill>
                  <a:srgbClr val="0070C0"/>
                </a:solidFill>
              </a:rPr>
              <a:t>ương</a:t>
            </a:r>
            <a:r>
              <a:rPr lang="en-US" sz="3200">
                <a:solidFill>
                  <a:srgbClr val="0070C0"/>
                </a:solidFill>
              </a:rPr>
              <a:t> thức trong List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066800"/>
            <a:ext cx="8304213" cy="5791200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Python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hỗ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trợ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phương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thức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latin typeface="Cambria" panose="02040503050406030204" pitchFamily="18" charset="0"/>
                <a:cs typeface="Times New Roman" pitchFamily="18" charset="0"/>
              </a:rPr>
              <a:t>sort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để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sắp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xếp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list.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Ví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dụ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: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sắp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xếp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list (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lst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)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theo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thứ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tự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tăng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dần</a:t>
            </a: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452DB33-9C01-4C11-858D-49A8FF63402F}"/>
              </a:ext>
            </a:extLst>
          </p:cNvPr>
          <p:cNvSpPr/>
          <p:nvPr/>
        </p:nvSpPr>
        <p:spPr>
          <a:xfrm>
            <a:off x="4122163" y="4772148"/>
            <a:ext cx="1126685" cy="3048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CC61A1-1707-40D9-AEDF-6BCF13018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64452"/>
            <a:ext cx="2986446" cy="17201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E9E225-6C4C-4BE7-8DDB-4EEA5CD1E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045" y="4459134"/>
            <a:ext cx="3095625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57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4. Các ph</a:t>
            </a:r>
            <a:r>
              <a:rPr lang="vi-VN" sz="3200">
                <a:solidFill>
                  <a:srgbClr val="0070C0"/>
                </a:solidFill>
              </a:rPr>
              <a:t>ương</a:t>
            </a:r>
            <a:r>
              <a:rPr lang="en-US" sz="3200">
                <a:solidFill>
                  <a:srgbClr val="0070C0"/>
                </a:solidFill>
              </a:rPr>
              <a:t> thức trong List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066800"/>
            <a:ext cx="8304213" cy="5791200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>
                <a:latin typeface="Cambria" panose="02040503050406030204" pitchFamily="18" charset="0"/>
                <a:cs typeface="Times New Roman" pitchFamily="18" charset="0"/>
              </a:rPr>
              <a:t>Slicing </a:t>
            </a:r>
            <a:r>
              <a:rPr lang="en-US" sz="2800">
                <a:latin typeface="Cambria" panose="02040503050406030204" pitchFamily="18" charset="0"/>
                <a:cs typeface="Times New Roman" pitchFamily="18" charset="0"/>
              </a:rPr>
              <a:t>dùng để trích lọc list</a:t>
            </a:r>
          </a:p>
          <a:p>
            <a:pPr marL="0" indent="0" algn="just">
              <a:buNone/>
            </a:pPr>
            <a:endParaRPr lang="en-US" sz="280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sz="2800">
              <a:latin typeface="Cambria" panose="02040503050406030204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800">
                <a:latin typeface="Cambria" panose="02040503050406030204" pitchFamily="18" charset="0"/>
                <a:cs typeface="Times New Roman" pitchFamily="18" charset="0"/>
              </a:rPr>
              <a:t>Trong đó:</a:t>
            </a:r>
          </a:p>
          <a:p>
            <a:pPr marL="0" indent="0" algn="just">
              <a:buNone/>
            </a:pPr>
            <a:r>
              <a:rPr lang="en-US" sz="2800">
                <a:latin typeface="Cambria" panose="02040503050406030204" pitchFamily="18" charset="0"/>
                <a:cs typeface="Times New Roman" pitchFamily="18" charset="0"/>
              </a:rPr>
              <a:t>	List: 	là danh sách</a:t>
            </a:r>
          </a:p>
          <a:p>
            <a:pPr marL="0" indent="0" algn="just">
              <a:buNone/>
            </a:pPr>
            <a:r>
              <a:rPr lang="en-US" sz="2800">
                <a:latin typeface="Cambria" panose="02040503050406030204" pitchFamily="18" charset="0"/>
                <a:cs typeface="Times New Roman" pitchFamily="18" charset="0"/>
              </a:rPr>
              <a:t>	Begin: Vị trí bắt đầu cắt</a:t>
            </a:r>
          </a:p>
          <a:p>
            <a:pPr marL="0" indent="0" algn="just">
              <a:buNone/>
            </a:pPr>
            <a:r>
              <a:rPr lang="en-US" sz="2800">
                <a:latin typeface="Cambria" panose="02040503050406030204" pitchFamily="18" charset="0"/>
                <a:cs typeface="Times New Roman" pitchFamily="18" charset="0"/>
              </a:rPr>
              <a:t>	End: 	Vị trí cuối cùng cắt</a:t>
            </a:r>
          </a:p>
          <a:p>
            <a:pPr marL="0" indent="0" algn="just">
              <a:buNone/>
            </a:pPr>
            <a:r>
              <a:rPr lang="en-US" sz="2800">
                <a:latin typeface="Cambria" panose="02040503050406030204" pitchFamily="18" charset="0"/>
                <a:cs typeface="Times New Roman" pitchFamily="18" charset="0"/>
              </a:rPr>
              <a:t>	Step: 	b</a:t>
            </a:r>
            <a:r>
              <a:rPr lang="vi-VN" sz="2800">
                <a:latin typeface="Cambria" panose="02040503050406030204" pitchFamily="18" charset="0"/>
                <a:cs typeface="Times New Roman" pitchFamily="18" charset="0"/>
              </a:rPr>
              <a:t>ư</a:t>
            </a:r>
            <a:r>
              <a:rPr lang="en-US" sz="2800">
                <a:latin typeface="Cambria" panose="02040503050406030204" pitchFamily="18" charset="0"/>
                <a:cs typeface="Times New Roman" pitchFamily="18" charset="0"/>
              </a:rPr>
              <a:t>ớc nhảy</a:t>
            </a: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1D8B6C-1B18-4789-9013-4E62DB020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676400"/>
            <a:ext cx="3802253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086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4. Các ph</a:t>
            </a:r>
            <a:r>
              <a:rPr lang="vi-VN" sz="3200">
                <a:solidFill>
                  <a:srgbClr val="0070C0"/>
                </a:solidFill>
              </a:rPr>
              <a:t>ương</a:t>
            </a:r>
            <a:r>
              <a:rPr lang="en-US" sz="3200">
                <a:solidFill>
                  <a:srgbClr val="0070C0"/>
                </a:solidFill>
              </a:rPr>
              <a:t> thức trong List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066800"/>
            <a:ext cx="8304213" cy="5791200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>
                <a:latin typeface="Cambria" panose="02040503050406030204" pitchFamily="18" charset="0"/>
                <a:cs typeface="Times New Roman" pitchFamily="18" charset="0"/>
              </a:rPr>
              <a:t>Ví dụ: sắp xếp list (lst) theo thứ tự tăng dần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0632D8-5532-43D0-A9C5-514C3A765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972103"/>
            <a:ext cx="8839200" cy="404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98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D2705-DAE0-2535-7D34-9EA7A87B9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0070C0"/>
                </a:solidFill>
              </a:rPr>
              <a:t>5. List </a:t>
            </a:r>
            <a:r>
              <a:rPr lang="en-US" dirty="0" err="1">
                <a:solidFill>
                  <a:srgbClr val="0070C0"/>
                </a:solidFill>
              </a:rPr>
              <a:t>đa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chiều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5A496-57BC-25EA-F8BF-CFC598928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Python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hỗ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trợ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List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đa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chiều</a:t>
            </a:r>
            <a:endParaRPr lang="en-US" sz="2800" dirty="0">
              <a:latin typeface="Cambria" panose="02040503050406030204" pitchFamily="18" charset="0"/>
              <a:cs typeface="Times New Roman" pitchFamily="18" charset="0"/>
            </a:endParaRPr>
          </a:p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070E9-2EAC-B42F-BE8F-A58ADDE6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93F35B-A3D4-426F-8BCB-E3B812F5CBC2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39446D-00FD-FA62-E29E-98A41C796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798763"/>
            <a:ext cx="4943475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127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D2705-DAE0-2535-7D34-9EA7A87B9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0070C0"/>
                </a:solidFill>
              </a:rPr>
              <a:t>5. List </a:t>
            </a:r>
            <a:r>
              <a:rPr lang="en-US" dirty="0" err="1">
                <a:solidFill>
                  <a:srgbClr val="0070C0"/>
                </a:solidFill>
              </a:rPr>
              <a:t>đa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chiều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5A496-57BC-25EA-F8BF-CFC598928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8768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Duyệt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list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đa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chiều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:</a:t>
            </a:r>
          </a:p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070E9-2EAC-B42F-BE8F-A58ADDE6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93F35B-A3D4-426F-8BCB-E3B812F5CBC2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61B667-A4E4-CFA4-A49B-B3E8B9CAD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12" y="2209800"/>
            <a:ext cx="7343775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234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D2705-DAE0-2535-7D34-9EA7A87B9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0070C0"/>
                </a:solidFill>
              </a:rPr>
              <a:t>5. List </a:t>
            </a:r>
            <a:r>
              <a:rPr lang="en-US" dirty="0" err="1">
                <a:solidFill>
                  <a:srgbClr val="0070C0"/>
                </a:solidFill>
              </a:rPr>
              <a:t>đa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chiều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5A496-57BC-25EA-F8BF-CFC598928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Duyệt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list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đa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chiều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:</a:t>
            </a:r>
          </a:p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070E9-2EAC-B42F-BE8F-A58ADDE6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93F35B-A3D4-426F-8BCB-E3B812F5CBC2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E61293-2EB7-9729-C720-B1CB1B173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033713"/>
            <a:ext cx="3629025" cy="2219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9A7358-2625-9C1D-D538-1D08C12EE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225" y="1105060"/>
            <a:ext cx="4600576" cy="52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201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D2705-DAE0-2535-7D34-9EA7A87B9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0070C0"/>
                </a:solidFill>
              </a:rPr>
              <a:t>5. List </a:t>
            </a:r>
            <a:r>
              <a:rPr lang="en-US" dirty="0" err="1">
                <a:solidFill>
                  <a:srgbClr val="0070C0"/>
                </a:solidFill>
              </a:rPr>
              <a:t>đa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chiều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5A496-57BC-25EA-F8BF-CFC598928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Khởi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tạo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list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đa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chiều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có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row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dòng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 column </a:t>
            </a:r>
            <a:r>
              <a:rPr lang="en-US" sz="2800" dirty="0" err="1">
                <a:latin typeface="Cambria" panose="02040503050406030204" pitchFamily="18" charset="0"/>
                <a:cs typeface="Times New Roman" pitchFamily="18" charset="0"/>
              </a:rPr>
              <a:t>cột</a:t>
            </a:r>
            <a:r>
              <a:rPr lang="en-US" sz="2800" dirty="0">
                <a:latin typeface="Cambria" panose="02040503050406030204" pitchFamily="18" charset="0"/>
                <a:cs typeface="Times New Roman" pitchFamily="18" charset="0"/>
              </a:rPr>
              <a:t>:</a:t>
            </a:r>
          </a:p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070E9-2EAC-B42F-BE8F-A58ADDE6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93F35B-A3D4-426F-8BCB-E3B812F5CBC2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69AE44B-07F5-276C-5804-0BD2078E6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190723"/>
            <a:ext cx="3871573" cy="15696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row=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column=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=[[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]*column]*row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E0DAA9-FD5B-92E1-0785-0057945C5872}"/>
              </a:ext>
            </a:extLst>
          </p:cNvPr>
          <p:cNvSpPr/>
          <p:nvPr/>
        </p:nvSpPr>
        <p:spPr>
          <a:xfrm>
            <a:off x="2618814" y="4712673"/>
            <a:ext cx="56941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[[0, 0, 0], [0, 0, 0], [0, 0, 0], [0, 0, 0], [0, 0, 0]]</a:t>
            </a:r>
          </a:p>
        </p:txBody>
      </p:sp>
      <p:sp>
        <p:nvSpPr>
          <p:cNvPr id="11" name="Arrow: Bent-Up 15">
            <a:extLst>
              <a:ext uri="{FF2B5EF4-FFF2-40B4-BE49-F238E27FC236}">
                <a16:creationId xmlns:a16="http://schemas.microsoft.com/office/drawing/2014/main" id="{DAC4F953-22EF-2000-F146-9959F9ADC21C}"/>
              </a:ext>
            </a:extLst>
          </p:cNvPr>
          <p:cNvSpPr/>
          <p:nvPr/>
        </p:nvSpPr>
        <p:spPr>
          <a:xfrm rot="5400000">
            <a:off x="1025816" y="3996075"/>
            <a:ext cx="1295400" cy="1143000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106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D2705-DAE0-2535-7D34-9EA7A87B9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0070C0"/>
                </a:solidFill>
              </a:rPr>
              <a:t>5. List </a:t>
            </a:r>
            <a:r>
              <a:rPr lang="en-US" dirty="0" err="1">
                <a:solidFill>
                  <a:srgbClr val="0070C0"/>
                </a:solidFill>
              </a:rPr>
              <a:t>đa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chiều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5A496-57BC-25EA-F8BF-CFC598928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24" y="1003537"/>
            <a:ext cx="8229600" cy="5324535"/>
          </a:xfrm>
        </p:spPr>
        <p:txBody>
          <a:bodyPr/>
          <a:lstStyle/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070E9-2EAC-B42F-BE8F-A58ADDE6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93F35B-A3D4-426F-8BCB-E3B812F5CBC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4358BB8-A1DB-6A15-2957-208838F63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000065"/>
            <a:ext cx="7441763" cy="53245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arr2D = []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rowsize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columnsize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rowsize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onerow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[]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columnsize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onerow.append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randrange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(-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arr2D.append(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onerow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(arr2D)):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(arr2D[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])):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(arr2D[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][j],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\t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arr2D: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column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row: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column,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\t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530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 dirty="0">
                <a:solidFill>
                  <a:srgbClr val="0070C0"/>
                </a:solidFill>
              </a:rPr>
              <a:t>6. </a:t>
            </a:r>
            <a:r>
              <a:rPr lang="en-US" sz="3200" dirty="0" err="1">
                <a:solidFill>
                  <a:srgbClr val="0070C0"/>
                </a:solidFill>
              </a:rPr>
              <a:t>Bài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tập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143000"/>
            <a:ext cx="8686799" cy="561022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/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>
              <a:solidFill>
                <a:srgbClr val="002060"/>
              </a:solidFill>
              <a:latin typeface="Cambria" panose="020405030504060302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B521C8C-01D1-4D03-B141-C7D7C77B18B3}"/>
              </a:ext>
            </a:extLst>
          </p:cNvPr>
          <p:cNvSpPr txBox="1">
            <a:spLocks/>
          </p:cNvSpPr>
          <p:nvPr/>
        </p:nvSpPr>
        <p:spPr>
          <a:xfrm>
            <a:off x="685800" y="1142998"/>
            <a:ext cx="8229600" cy="510540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30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 1: 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Viết ch</a:t>
            </a:r>
            <a:r>
              <a:rPr lang="vi-VN" sz="30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ơng trình cho phép:</a:t>
            </a:r>
          </a:p>
          <a:p>
            <a:pPr algn="just">
              <a:buFontTx/>
              <a:buChar char="-"/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khởi tạo list</a:t>
            </a:r>
          </a:p>
          <a:p>
            <a:pPr algn="just">
              <a:buFontTx/>
              <a:buChar char="-"/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Thêm phần tử vào list</a:t>
            </a:r>
          </a:p>
          <a:p>
            <a:pPr algn="just">
              <a:buFontTx/>
              <a:buChar char="-"/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Nhập k, kiểm tra k xuất hiện bao nhiêu lần trong list</a:t>
            </a:r>
          </a:p>
          <a:p>
            <a:pPr algn="just">
              <a:buFontTx/>
              <a:buChar char="-"/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Tính tổng các số nguyên tố trong list</a:t>
            </a:r>
          </a:p>
          <a:p>
            <a:pPr algn="just">
              <a:buFontTx/>
              <a:buChar char="-"/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Sắp xếp</a:t>
            </a:r>
          </a:p>
          <a:p>
            <a:pPr algn="just">
              <a:buFontTx/>
              <a:buChar char="-"/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Xóa list</a:t>
            </a:r>
          </a:p>
          <a:p>
            <a:pPr marL="0" indent="0">
              <a:buNone/>
            </a:pP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0088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 dirty="0">
                <a:solidFill>
                  <a:srgbClr val="0070C0"/>
                </a:solidFill>
              </a:rPr>
              <a:t>6. </a:t>
            </a:r>
            <a:r>
              <a:rPr lang="en-US" sz="3200" dirty="0" err="1">
                <a:solidFill>
                  <a:srgbClr val="0070C0"/>
                </a:solidFill>
              </a:rPr>
              <a:t>Bài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tập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143000"/>
            <a:ext cx="8686799" cy="561022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/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>
              <a:solidFill>
                <a:srgbClr val="002060"/>
              </a:solidFill>
              <a:latin typeface="Cambria" panose="020405030504060302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B521C8C-01D1-4D03-B141-C7D7C77B18B3}"/>
              </a:ext>
            </a:extLst>
          </p:cNvPr>
          <p:cNvSpPr txBox="1">
            <a:spLocks/>
          </p:cNvSpPr>
          <p:nvPr/>
        </p:nvSpPr>
        <p:spPr>
          <a:xfrm>
            <a:off x="685800" y="1142998"/>
            <a:ext cx="8229600" cy="510540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30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 2: 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Viết ch</a:t>
            </a:r>
            <a:r>
              <a:rPr lang="vi-VN" sz="30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ơng trình cho phép: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Viết lệnh khởi tạo ngẫu nhiên n phần tử cho list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Gọi k là một số nhập từ bàn phím, hãy xóa tất cả các phần tử có giá trị k tồn tại trong list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Kiểm tra list có đối xứng hay không</a:t>
            </a:r>
          </a:p>
          <a:p>
            <a:pPr marL="0" indent="0">
              <a:lnSpc>
                <a:spcPct val="150000"/>
              </a:lnSpc>
              <a:buNone/>
            </a:pP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098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 dirty="0">
                <a:solidFill>
                  <a:srgbClr val="0070C0"/>
                </a:solidFill>
              </a:rPr>
              <a:t>6. </a:t>
            </a:r>
            <a:r>
              <a:rPr lang="en-US" sz="3200" dirty="0" err="1">
                <a:solidFill>
                  <a:srgbClr val="0070C0"/>
                </a:solidFill>
              </a:rPr>
              <a:t>Bài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tập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143000"/>
            <a:ext cx="8686799" cy="561022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/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>
              <a:solidFill>
                <a:srgbClr val="002060"/>
              </a:solidFill>
              <a:latin typeface="Cambria" panose="020405030504060302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B521C8C-01D1-4D03-B141-C7D7C77B18B3}"/>
              </a:ext>
            </a:extLst>
          </p:cNvPr>
          <p:cNvSpPr txBox="1">
            <a:spLocks/>
          </p:cNvSpPr>
          <p:nvPr/>
        </p:nvSpPr>
        <p:spPr>
          <a:xfrm>
            <a:off x="685800" y="1142998"/>
            <a:ext cx="8229600" cy="561022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6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 3: 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Cho list: </a:t>
            </a:r>
            <a:r>
              <a:rPr lang="sv-SE" sz="2600">
                <a:latin typeface="Times New Roman" panose="02020603050405020304" pitchFamily="18" charset="0"/>
                <a:cs typeface="Times New Roman" panose="02020603050405020304" pitchFamily="18" charset="0"/>
              </a:rPr>
              <a:t>lst = [3, 0, 1, 5, 2]</a:t>
            </a:r>
          </a:p>
          <a:p>
            <a:pPr marL="0" indent="0" algn="just">
              <a:buNone/>
              <a:tabLst>
                <a:tab pos="2005013" algn="l"/>
              </a:tabLst>
            </a:pPr>
            <a:r>
              <a:rPr lang="sv-SE" sz="2600">
                <a:latin typeface="Times New Roman" panose="02020603050405020304" pitchFamily="18" charset="0"/>
                <a:cs typeface="Times New Roman" panose="02020603050405020304" pitchFamily="18" charset="0"/>
              </a:rPr>
              <a:t>	x = 2</a:t>
            </a:r>
          </a:p>
          <a:p>
            <a:pPr marL="0" indent="0" algn="just">
              <a:buNone/>
            </a:pPr>
            <a:r>
              <a:rPr lang="sv-SE" sz="2600">
                <a:latin typeface="Times New Roman" panose="02020603050405020304" pitchFamily="18" charset="0"/>
                <a:cs typeface="Times New Roman" panose="02020603050405020304" pitchFamily="18" charset="0"/>
              </a:rPr>
              <a:t>Hãy cho biết kết quả:</a:t>
            </a:r>
          </a:p>
          <a:p>
            <a:pPr marL="0" indent="0" algn="just">
              <a:buNone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(a) lst[0]?</a:t>
            </a:r>
          </a:p>
          <a:p>
            <a:pPr marL="0" indent="0" algn="just">
              <a:buNone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(b) lst[3]?</a:t>
            </a:r>
          </a:p>
          <a:p>
            <a:pPr marL="0" indent="0" algn="just">
              <a:buNone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(c) lst[x]?</a:t>
            </a:r>
          </a:p>
          <a:p>
            <a:pPr marL="0" indent="0" algn="just">
              <a:buNone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(d) lst[-x]?</a:t>
            </a:r>
          </a:p>
          <a:p>
            <a:pPr marL="0" indent="0" algn="just">
              <a:buNone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(e) lst[x + 1]?</a:t>
            </a:r>
          </a:p>
          <a:p>
            <a:pPr marL="0" indent="0" algn="just">
              <a:buNone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(f) lst[x] + 1?</a:t>
            </a:r>
          </a:p>
          <a:p>
            <a:pPr marL="0" indent="0" algn="just">
              <a:buNone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(g) lst[lst[x]]?</a:t>
            </a:r>
          </a:p>
          <a:p>
            <a:pPr marL="0" indent="0" algn="just">
              <a:buNone/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(h) lst[lst[lst[x]]]?</a:t>
            </a:r>
          </a:p>
        </p:txBody>
      </p:sp>
    </p:spTree>
    <p:extLst>
      <p:ext uri="{BB962C8B-B14F-4D97-AF65-F5344CB8AC3E}">
        <p14:creationId xmlns:p14="http://schemas.microsoft.com/office/powerpoint/2010/main" val="28496876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 dirty="0">
                <a:solidFill>
                  <a:srgbClr val="0070C0"/>
                </a:solidFill>
              </a:rPr>
              <a:t>6. </a:t>
            </a:r>
            <a:r>
              <a:rPr lang="en-US" sz="3200" dirty="0" err="1">
                <a:solidFill>
                  <a:srgbClr val="0070C0"/>
                </a:solidFill>
              </a:rPr>
              <a:t>Bài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tập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143000"/>
            <a:ext cx="8686799" cy="561022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/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>
              <a:solidFill>
                <a:srgbClr val="002060"/>
              </a:solidFill>
              <a:latin typeface="Cambria" panose="020405030504060302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B521C8C-01D1-4D03-B141-C7D7C77B18B3}"/>
              </a:ext>
            </a:extLst>
          </p:cNvPr>
          <p:cNvSpPr txBox="1">
            <a:spLocks/>
          </p:cNvSpPr>
          <p:nvPr/>
        </p:nvSpPr>
        <p:spPr>
          <a:xfrm>
            <a:off x="685800" y="1142998"/>
            <a:ext cx="8229600" cy="561022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 4: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Cho list: </a:t>
            </a:r>
            <a:r>
              <a:rPr lang="sv-SE" sz="2800">
                <a:latin typeface="Times New Roman" panose="02020603050405020304" pitchFamily="18" charset="0"/>
                <a:cs typeface="Times New Roman" panose="02020603050405020304" pitchFamily="18" charset="0"/>
              </a:rPr>
              <a:t>lst = [20, 1, -34, 40, -8, 60, 1, 3]</a:t>
            </a:r>
          </a:p>
          <a:p>
            <a:pPr marL="0" indent="0" algn="just">
              <a:spcAft>
                <a:spcPts val="1200"/>
              </a:spcAft>
              <a:buNone/>
            </a:pPr>
            <a:r>
              <a:rPr lang="sv-SE" sz="2800">
                <a:latin typeface="Times New Roman" panose="02020603050405020304" pitchFamily="18" charset="0"/>
                <a:cs typeface="Times New Roman" panose="02020603050405020304" pitchFamily="18" charset="0"/>
              </a:rPr>
              <a:t>Hãy cho biết kết quả:</a:t>
            </a:r>
          </a:p>
          <a:p>
            <a:pPr marL="0" indent="0" algn="just">
              <a:buNone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(a) lst</a:t>
            </a:r>
          </a:p>
          <a:p>
            <a:pPr marL="0" indent="0" algn="just">
              <a:buNone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(b) lst[0:3]</a:t>
            </a:r>
          </a:p>
          <a:p>
            <a:pPr marL="0" indent="0" algn="just">
              <a:buNone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(c) lst[4:8]</a:t>
            </a:r>
          </a:p>
          <a:p>
            <a:pPr marL="0" indent="0" algn="just">
              <a:buNone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(d) lst[4:33]</a:t>
            </a:r>
          </a:p>
          <a:p>
            <a:pPr marL="0" indent="0" algn="just">
              <a:buNone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(e) lst[-5:-3]</a:t>
            </a:r>
          </a:p>
          <a:p>
            <a:pPr marL="0" indent="0" algn="just">
              <a:buNone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(f) lst[-22:3]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36F38A-D404-446D-98D3-DE62B9E67C1C}"/>
              </a:ext>
            </a:extLst>
          </p:cNvPr>
          <p:cNvSpPr/>
          <p:nvPr/>
        </p:nvSpPr>
        <p:spPr>
          <a:xfrm>
            <a:off x="3733800" y="2606457"/>
            <a:ext cx="26670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(g) lst[4:]</a:t>
            </a: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(h) lst[:]</a:t>
            </a: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(i) lst[:4]</a:t>
            </a: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(j) lst[1:5]</a:t>
            </a: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(k) -34 in lst</a:t>
            </a: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(l) -34 not in lst</a:t>
            </a: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(m) len(lst)</a:t>
            </a:r>
          </a:p>
        </p:txBody>
      </p:sp>
    </p:spTree>
    <p:extLst>
      <p:ext uri="{BB962C8B-B14F-4D97-AF65-F5344CB8AC3E}">
        <p14:creationId xmlns:p14="http://schemas.microsoft.com/office/powerpoint/2010/main" val="10091623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 dirty="0">
                <a:solidFill>
                  <a:srgbClr val="0070C0"/>
                </a:solidFill>
              </a:rPr>
              <a:t>6. </a:t>
            </a:r>
            <a:r>
              <a:rPr lang="en-US" sz="3200" dirty="0" err="1">
                <a:solidFill>
                  <a:srgbClr val="0070C0"/>
                </a:solidFill>
              </a:rPr>
              <a:t>Bài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tập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143000"/>
            <a:ext cx="8686799" cy="561022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/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>
              <a:solidFill>
                <a:srgbClr val="002060"/>
              </a:solidFill>
              <a:latin typeface="Cambria" panose="020405030504060302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B521C8C-01D1-4D03-B141-C7D7C77B18B3}"/>
              </a:ext>
            </a:extLst>
          </p:cNvPr>
          <p:cNvSpPr txBox="1">
            <a:spLocks/>
          </p:cNvSpPr>
          <p:nvPr/>
        </p:nvSpPr>
        <p:spPr>
          <a:xfrm>
            <a:off x="685800" y="1142998"/>
            <a:ext cx="8229600" cy="561022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5: </a:t>
            </a:r>
            <a:r>
              <a:rPr 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list </a:t>
            </a:r>
            <a:r>
              <a:rPr 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ngẫu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KHÔNG TRÙNG NHAU.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6: 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Viết chương trình nhập vào một dãy các số theo thứ  tự tăng, nếu nhập sai quy cách thì yêu cầu nhập lại. In dãy số sau khi </a:t>
            </a:r>
            <a:r>
              <a:rPr 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 xon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7: 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Viết chương trình nhập vào một dãy n số thực 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[0], 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[1],..., 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[n-1], sắp xếp dãy số theo thứ tự giảm dần. Xuất ra dãy số sau khi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sắp xếp.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5082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36184FF7-DEEF-47A1-9A9A-DD0097D09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Calibri(Body)"/>
              </a:rPr>
              <a:t>FAQ</a:t>
            </a:r>
          </a:p>
        </p:txBody>
      </p:sp>
      <p:pic>
        <p:nvPicPr>
          <p:cNvPr id="35843" name="Picture 6">
            <a:extLst>
              <a:ext uri="{FF2B5EF4-FFF2-40B4-BE49-F238E27FC236}">
                <a16:creationId xmlns:a16="http://schemas.microsoft.com/office/drawing/2014/main" id="{B788FFF5-0A29-4150-B189-30FF380DD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219200"/>
            <a:ext cx="5278438" cy="527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EA593F-6EF9-4302-BF31-B4014183E7A4}"/>
              </a:ext>
            </a:extLst>
          </p:cNvPr>
          <p:cNvCxnSpPr/>
          <p:nvPr/>
        </p:nvCxnSpPr>
        <p:spPr>
          <a:xfrm>
            <a:off x="457200" y="990600"/>
            <a:ext cx="8229600" cy="1588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845" name="Slide Number Placeholder 4">
            <a:extLst>
              <a:ext uri="{FF2B5EF4-FFF2-40B4-BE49-F238E27FC236}">
                <a16:creationId xmlns:a16="http://schemas.microsoft.com/office/drawing/2014/main" id="{ED0F3CA8-F36D-487A-A924-2ADD066F8B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129588" y="5734050"/>
            <a:ext cx="609600" cy="520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2CC241A-78C4-4544-B917-F8DD6A2B851C}" type="slidenum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en-US" sz="1400">
              <a:solidFill>
                <a:srgbClr val="FFFFFF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Master_TrungKi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SlideMaster_TrungKien</Template>
  <TotalTime>5254</TotalTime>
  <Words>1542</Words>
  <Application>Microsoft Macintosh PowerPoint</Application>
  <PresentationFormat>On-screen Show (4:3)</PresentationFormat>
  <Paragraphs>224</Paragraphs>
  <Slides>26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Calibri</vt:lpstr>
      <vt:lpstr>Calibri(Body)</vt:lpstr>
      <vt:lpstr>Cambria</vt:lpstr>
      <vt:lpstr>Courier New</vt:lpstr>
      <vt:lpstr>Times New Roman</vt:lpstr>
      <vt:lpstr>Verdana</vt:lpstr>
      <vt:lpstr>Wingdings</vt:lpstr>
      <vt:lpstr>SlideMaster_TrungKien</vt:lpstr>
      <vt:lpstr>LIST TRONG PYTHON</vt:lpstr>
      <vt:lpstr>NỘI DUNG</vt:lpstr>
      <vt:lpstr>Khai báo và sử dụng List</vt:lpstr>
      <vt:lpstr>Khai báo và sử dụng List</vt:lpstr>
      <vt:lpstr>2. Duyệt List</vt:lpstr>
      <vt:lpstr>3. Gán giá trị cho List</vt:lpstr>
      <vt:lpstr>3. Gán giá trị cho List</vt:lpstr>
      <vt:lpstr>4. Các phương thức trong List</vt:lpstr>
      <vt:lpstr>4. Các phương thức trong List</vt:lpstr>
      <vt:lpstr>4. Các phương thức trong List</vt:lpstr>
      <vt:lpstr>4. Các phương thức trong List</vt:lpstr>
      <vt:lpstr>4. Các phương thức trong List</vt:lpstr>
      <vt:lpstr>4. Các phương thức trong List</vt:lpstr>
      <vt:lpstr>4. Các phương thức trong List</vt:lpstr>
      <vt:lpstr>4. Các phương thức trong List</vt:lpstr>
      <vt:lpstr>5. List đa chiều</vt:lpstr>
      <vt:lpstr>5. List đa chiều</vt:lpstr>
      <vt:lpstr>5. List đa chiều</vt:lpstr>
      <vt:lpstr>5. List đa chiều</vt:lpstr>
      <vt:lpstr>5. List đa chiều</vt:lpstr>
      <vt:lpstr>6. Bài tập</vt:lpstr>
      <vt:lpstr>6. Bài tập</vt:lpstr>
      <vt:lpstr>6. Bài tập</vt:lpstr>
      <vt:lpstr>6. Bài tập</vt:lpstr>
      <vt:lpstr>6. Bài tập</vt:lpstr>
      <vt:lpstr>FAQ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Trung Kien</dc:creator>
  <cp:lastModifiedBy>Lê Thị Hồng Nga</cp:lastModifiedBy>
  <cp:revision>449</cp:revision>
  <dcterms:created xsi:type="dcterms:W3CDTF">2007-08-28T06:01:43Z</dcterms:created>
  <dcterms:modified xsi:type="dcterms:W3CDTF">2024-02-20T08:44:31Z</dcterms:modified>
</cp:coreProperties>
</file>