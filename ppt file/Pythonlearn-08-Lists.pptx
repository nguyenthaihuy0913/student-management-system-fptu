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2" r:id="rId1"/>
  </p:sldMasterIdLst>
  <p:notesMasterIdLst>
    <p:notesMasterId r:id="rId31"/>
  </p:notesMasterIdLst>
  <p:sldIdLst>
    <p:sldId id="256" r:id="rId2"/>
    <p:sldId id="286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48" autoAdjust="0"/>
    <p:restoredTop sz="97059"/>
  </p:normalViewPr>
  <p:slideViewPr>
    <p:cSldViewPr snapToGrid="0" snapToObjects="1">
      <p:cViewPr varScale="1">
        <p:scale>
          <a:sx n="91" d="100"/>
          <a:sy n="91" d="100"/>
        </p:scale>
        <p:origin x="208" y="256"/>
      </p:cViewPr>
      <p:guideLst>
        <p:guide orient="horz" pos="2880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9528870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dirty="0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acknowledgement page(s)</a:t>
            </a:r>
            <a:r>
              <a:rPr lang="en-US" baseline="0" dirty="0">
                <a:solidFill>
                  <a:schemeClr val="dk2"/>
                </a:solidFill>
              </a:rPr>
              <a:t> at the end.</a:t>
            </a:r>
            <a:endParaRPr lang="en-US" dirty="0">
              <a:solidFill>
                <a:schemeClr val="dk2"/>
              </a:solidFill>
            </a:endParaRPr>
          </a:p>
        </p:txBody>
      </p:sp>
      <p:sp>
        <p:nvSpPr>
          <p:cNvPr id="163" name="Shape 1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6799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87" name="Shape 18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0885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80" name="Shape 18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0589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72" name="Shape 1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6837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87" name="Shape 18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2331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94" name="Shape 19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77115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01" name="Shape 20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4354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1" name="Shape 2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97148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25" name="Shape 22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8252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32" name="Shape 23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33245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39" name="Shape 23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1277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46" name="Shape 24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94682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4" name="Shape 25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73929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61" name="Shape 26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8481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2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68" name="Shape 26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0856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2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75" name="Shape 27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12026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2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82" name="Shape 2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29260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89" name="Shape 28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1387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6" name="Shape 29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64204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30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03" name="Shape 30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18696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3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10" name="Shape 31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21247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3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18" name="Shape 31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7807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24" name="Shape 32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37180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Shape 3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95572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3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41" name="Shape 34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58660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3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50" name="Shape 3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04999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3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60" name="Shape 36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68889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3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71" name="Shape 3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42427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37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Shape 3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8981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pening Titl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lvl="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lvl="1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lvl="2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lvl="3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lvl="4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 txBox="1">
            <a:spLocks noGrp="1"/>
          </p:cNvSpPr>
          <p:nvPr>
            <p:ph type="title"/>
          </p:nvPr>
        </p:nvSpPr>
        <p:spPr>
          <a:xfrm>
            <a:off x="1155700" y="789709"/>
            <a:ext cx="13931900" cy="175029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57" name="Shape 157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lvl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 sz="3200"/>
            </a:lvl1pPr>
            <a:lvl2pPr marL="939800" lvl="1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lvl="2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lvl="3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lvl="4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lvl="5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lvl="6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lvl="7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lvl="8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 txBox="1">
            <a:spLocks noGrp="1"/>
          </p:cNvSpPr>
          <p:nvPr>
            <p:ph type="title"/>
          </p:nvPr>
        </p:nvSpPr>
        <p:spPr>
          <a:xfrm>
            <a:off x="1155700" y="789709"/>
            <a:ext cx="13931900" cy="175029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5493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3295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marR="0" lvl="1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marR="0" lvl="2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marR="0" lvl="3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marR="0" lvl="4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0"/>
            <a:ext cx="16256000" cy="7680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/>
          </a:p>
        </p:txBody>
      </p:sp>
      <p:sp>
        <p:nvSpPr>
          <p:cNvPr id="5" name="Rectangle 3"/>
          <p:cNvSpPr>
            <a:spLocks noChangeArrowheads="1"/>
          </p:cNvSpPr>
          <p:nvPr userDrawn="1"/>
        </p:nvSpPr>
        <p:spPr bwMode="auto">
          <a:xfrm>
            <a:off x="0" y="8357616"/>
            <a:ext cx="16256000" cy="7863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90" r:id="rId2"/>
    <p:sldLayoutId id="2147483693" r:id="rId3"/>
    <p:sldLayoutId id="214748369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lgorith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Data_structure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python.org/tutorial/datastructures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r-chuck.com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2.jpg"/><Relationship Id="rId4" Type="http://schemas.openxmlformats.org/officeDocument/2006/relationships/hyperlink" Target="http://open.umich.ed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Lists</a:t>
            </a:r>
          </a:p>
        </p:txBody>
      </p:sp>
      <p:sp>
        <p:nvSpPr>
          <p:cNvPr id="166" name="Shape 16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Chapter 8</a:t>
            </a:r>
          </a:p>
        </p:txBody>
      </p:sp>
      <p:sp>
        <p:nvSpPr>
          <p:cNvPr id="167" name="Shape 167"/>
          <p:cNvSpPr txBox="1"/>
          <p:nvPr/>
        </p:nvSpPr>
        <p:spPr>
          <a:xfrm>
            <a:off x="3804600" y="6415089"/>
            <a:ext cx="7987499" cy="156060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for Everybody</a:t>
            </a:r>
            <a:endParaRPr lang="en-US" sz="3200" u="none" strike="noStrike" cap="none" dirty="0">
              <a:solidFill>
                <a:srgbClr val="FF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20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www.py4e.com</a:t>
            </a:r>
            <a:endParaRPr lang="en-US" sz="3200" u="none" strike="noStrike" cap="none" dirty="0">
              <a:solidFill>
                <a:srgbClr val="FF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pic>
        <p:nvPicPr>
          <p:cNvPr id="168" name="Shape 1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87412" y="7318368"/>
            <a:ext cx="1968599" cy="66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Shape 1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250" y="6933293"/>
            <a:ext cx="1024800" cy="10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 txBox="1">
            <a:spLocks noGrp="1"/>
          </p:cNvSpPr>
          <p:nvPr>
            <p:ph type="title"/>
          </p:nvPr>
        </p:nvSpPr>
        <p:spPr>
          <a:xfrm>
            <a:off x="1155700" y="789709"/>
            <a:ext cx="12992030" cy="175029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Programming</a:t>
            </a:r>
          </a:p>
        </p:txBody>
      </p:sp>
      <p:sp>
        <p:nvSpPr>
          <p:cNvPr id="190" name="Shape 190"/>
          <p:cNvSpPr txBox="1">
            <a:spLocks noGrp="1"/>
          </p:cNvSpPr>
          <p:nvPr>
            <p:ph type="body" idx="1"/>
          </p:nvPr>
        </p:nvSpPr>
        <p:spPr>
          <a:xfrm>
            <a:off x="1155700" y="2857500"/>
            <a:ext cx="13760450" cy="484346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Algorithm</a:t>
            </a:r>
          </a:p>
          <a:p>
            <a:pPr marL="304800" lvl="1" indent="0">
              <a:spcBef>
                <a:spcPts val="0"/>
              </a:spcBef>
              <a:spcAft>
                <a:spcPts val="1000"/>
              </a:spcAft>
              <a:buSzPct val="100000"/>
              <a:buNone/>
            </a:pPr>
            <a:r>
              <a:rPr lang="en-US" sz="32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  A set of rules or steps used to solve a problem</a:t>
            </a:r>
          </a:p>
          <a:p>
            <a:pPr marL="749300" lvl="1" indent="-444500">
              <a:spcBef>
                <a:spcPts val="0"/>
              </a:spcBef>
              <a:spcAft>
                <a:spcPts val="1000"/>
              </a:spcAft>
              <a:buSzPct val="100000"/>
            </a:pPr>
            <a:endParaRPr lang="en-US" sz="3200" u="none" strike="noStrike" cap="none" dirty="0">
              <a:solidFill>
                <a:schemeClr val="bg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600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Data Structure</a:t>
            </a:r>
          </a:p>
          <a:p>
            <a:pPr marL="304800" lvl="1" indent="0">
              <a:spcBef>
                <a:spcPts val="0"/>
              </a:spcBef>
              <a:spcAft>
                <a:spcPts val="1000"/>
              </a:spcAft>
              <a:buSzPct val="100000"/>
              <a:buNone/>
            </a:pPr>
            <a:r>
              <a:rPr lang="en-US" sz="32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  A particular way of organizing data in a computer</a:t>
            </a:r>
            <a:endParaRPr lang="en-US" sz="32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767449" y="6941246"/>
            <a:ext cx="7973658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200" dirty="0">
                <a:solidFill>
                  <a:srgbClr val="FFFF00"/>
                </a:solidFill>
                <a:hlinkClick r:id="rId3"/>
              </a:rPr>
              <a:t>https://en.wikipedia.org/wiki/Algorithm</a:t>
            </a:r>
            <a:endParaRPr lang="en-US" sz="3200" dirty="0">
              <a:solidFill>
                <a:srgbClr val="FFFF00"/>
              </a:solidFill>
            </a:endParaRPr>
          </a:p>
          <a:p>
            <a:pPr algn="r"/>
            <a:r>
              <a:rPr lang="en-US" sz="3200" dirty="0">
                <a:solidFill>
                  <a:srgbClr val="FFFF00"/>
                </a:solidFill>
                <a:hlinkClick r:id="rId4"/>
              </a:rPr>
              <a:t>https://en.wikipedia.org/wiki/Data_structure</a:t>
            </a:r>
            <a:endParaRPr lang="en-US"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444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Not a </a:t>
            </a:r>
            <a:r>
              <a:rPr lang="en-US" sz="7600" b="0" i="0" u="none" strike="noStrike" cap="none" dirty="0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Collection</a:t>
            </a:r>
            <a:r>
              <a:rPr lang="en-US" sz="7600" b="0" i="0" u="none" strike="noStrike" cap="non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”?</a:t>
            </a:r>
            <a:endParaRPr lang="en-US" sz="7600" b="0" i="0" u="none" strike="noStrike" cap="none" dirty="0">
              <a:solidFill>
                <a:srgbClr val="FFD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Shape 183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1900" cy="26543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Most of our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have one value in them - when we put a new value in the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,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the old value is overwritten</a:t>
            </a:r>
          </a:p>
        </p:txBody>
      </p:sp>
      <p:sp>
        <p:nvSpPr>
          <p:cNvPr id="184" name="Shape 184"/>
          <p:cNvSpPr txBox="1"/>
          <p:nvPr/>
        </p:nvSpPr>
        <p:spPr>
          <a:xfrm>
            <a:off x="2136725" y="5621338"/>
            <a:ext cx="12214275" cy="225742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$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python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1155700" y="789709"/>
            <a:ext cx="11688763" cy="175029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4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List is a Kind of Collection</a:t>
            </a:r>
          </a:p>
        </p:txBody>
      </p:sp>
      <p:sp>
        <p:nvSpPr>
          <p:cNvPr id="175" name="Shape 175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1900" cy="352583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collection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allows us to put many values in a single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collection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nice because we can carry all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many values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around in one convenient package.</a:t>
            </a:r>
          </a:p>
        </p:txBody>
      </p:sp>
      <p:pic>
        <p:nvPicPr>
          <p:cNvPr id="176" name="Shape 1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77850" y="789709"/>
            <a:ext cx="2557874" cy="209629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Shape 177"/>
          <p:cNvSpPr txBox="1"/>
          <p:nvPr/>
        </p:nvSpPr>
        <p:spPr>
          <a:xfrm>
            <a:off x="2002250" y="6000750"/>
            <a:ext cx="12192000" cy="22145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[ 'Joseph', 'Glenn', 'Sally' ]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i="0" u="none" strike="noStrike" cap="none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carryon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[ 'socks', 'shirt', 'perfume'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 Constants</a:t>
            </a:r>
          </a:p>
        </p:txBody>
      </p:sp>
      <p:sp>
        <p:nvSpPr>
          <p:cNvPr id="190" name="Shape 190"/>
          <p:cNvSpPr txBox="1">
            <a:spLocks noGrp="1"/>
          </p:cNvSpPr>
          <p:nvPr>
            <p:ph type="body" idx="1"/>
          </p:nvPr>
        </p:nvSpPr>
        <p:spPr>
          <a:xfrm>
            <a:off x="698500" y="2857500"/>
            <a:ext cx="7331075" cy="484346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constants are surrounded by square brackets and the elements in the list are separated by commas</a:t>
            </a:r>
          </a:p>
          <a:p>
            <a:pPr marL="457200" marR="0" lvl="0" indent="-4445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element can be any Python object - even </a:t>
            </a:r>
            <a:r>
              <a:rPr lang="en-US" sz="34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another list</a:t>
            </a:r>
          </a:p>
          <a:p>
            <a:pPr marL="457200" marR="0" lvl="0" indent="-4445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can be empty</a:t>
            </a:r>
          </a:p>
        </p:txBody>
      </p:sp>
      <p:sp>
        <p:nvSpPr>
          <p:cNvPr id="191" name="Shape 191"/>
          <p:cNvSpPr txBox="1"/>
          <p:nvPr/>
        </p:nvSpPr>
        <p:spPr>
          <a:xfrm>
            <a:off x="8774113" y="2532050"/>
            <a:ext cx="7162387" cy="5540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[1, 24, 76]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[1, 24, 76]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['red', 'yellow', 'blue']</a:t>
            </a:r>
            <a:r>
              <a:rPr lang="en-US" sz="28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800" i="0" u="none" strike="noStrike" cap="none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['red', 'yellow', 'blue']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['red', 24, 98.6]</a:t>
            </a:r>
            <a:r>
              <a:rPr lang="en-US" sz="28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800" i="0" u="none" strike="noStrike" cap="none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['red', 24, 98.6]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[ 1, </a:t>
            </a:r>
            <a:r>
              <a:rPr lang="en-US" sz="28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[5, 6]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, 7]</a:t>
            </a:r>
            <a:r>
              <a:rPr lang="en-US" sz="28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800" i="0" u="none" strike="noStrike" cap="none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[1, [5, 6], 7]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[]</a:t>
            </a:r>
            <a:r>
              <a:rPr lang="en-US" sz="28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800" i="0" u="none" strike="noStrike" cap="none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Already Use Lists!</a:t>
            </a:r>
          </a:p>
        </p:txBody>
      </p:sp>
      <p:sp>
        <p:nvSpPr>
          <p:cNvPr id="197" name="Shape 197"/>
          <p:cNvSpPr txBox="1"/>
          <p:nvPr/>
        </p:nvSpPr>
        <p:spPr>
          <a:xfrm>
            <a:off x="1895475" y="2840601"/>
            <a:ext cx="8488800" cy="363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[5, 4, 3, 2, 1]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'Blastoff!'</a:t>
            </a: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198" name="Shape 198"/>
          <p:cNvSpPr txBox="1"/>
          <p:nvPr/>
        </p:nvSpPr>
        <p:spPr>
          <a:xfrm>
            <a:off x="11091861" y="3003550"/>
            <a:ext cx="2384424" cy="4902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Blastoff!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and Definite Loops - Best Pals</a:t>
            </a:r>
          </a:p>
        </p:txBody>
      </p:sp>
      <p:sp>
        <p:nvSpPr>
          <p:cNvPr id="204" name="Shape 204"/>
          <p:cNvSpPr txBox="1"/>
          <p:nvPr/>
        </p:nvSpPr>
        <p:spPr>
          <a:xfrm>
            <a:off x="1279124" y="3423163"/>
            <a:ext cx="7280400" cy="22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['Joseph', 'Glenn', 'Sally']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 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'Happy New Year:’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rgbClr val="FFFF00"/>
              </a:buClr>
              <a:buSzPct val="25000"/>
            </a:pP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'Done!'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205" name="Shape 205"/>
          <p:cNvSpPr txBox="1"/>
          <p:nvPr/>
        </p:nvSpPr>
        <p:spPr>
          <a:xfrm>
            <a:off x="10658475" y="4051100"/>
            <a:ext cx="4943475" cy="218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Joseph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Glenn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Sally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Done!</a:t>
            </a:r>
          </a:p>
        </p:txBody>
      </p:sp>
      <p:cxnSp>
        <p:nvCxnSpPr>
          <p:cNvPr id="206" name="Shape 206"/>
          <p:cNvCxnSpPr/>
          <p:nvPr/>
        </p:nvCxnSpPr>
        <p:spPr>
          <a:xfrm flipH="1">
            <a:off x="8443912" y="4353475"/>
            <a:ext cx="1986512" cy="318538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07" name="Shape 207"/>
          <p:cNvCxnSpPr/>
          <p:nvPr/>
        </p:nvCxnSpPr>
        <p:spPr>
          <a:xfrm flipH="1" flipV="1">
            <a:off x="8464060" y="4672014"/>
            <a:ext cx="1961138" cy="839786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08" name="Shape 208"/>
          <p:cNvCxnSpPr/>
          <p:nvPr/>
        </p:nvCxnSpPr>
        <p:spPr>
          <a:xfrm rot="10800000">
            <a:off x="3904399" y="5160163"/>
            <a:ext cx="6596999" cy="798899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8" name="Shape 204"/>
          <p:cNvSpPr txBox="1"/>
          <p:nvPr/>
        </p:nvSpPr>
        <p:spPr>
          <a:xfrm>
            <a:off x="1279124" y="5997591"/>
            <a:ext cx="7280400" cy="22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 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 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['Joseph', 'Glenn', 'Sally']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'Happy New Year:'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rgbClr val="FFFF00"/>
              </a:buClr>
              <a:buSzPct val="25000"/>
            </a:pP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'Done!'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Looking Inside Lists</a:t>
            </a:r>
          </a:p>
        </p:txBody>
      </p:sp>
      <p:sp>
        <p:nvSpPr>
          <p:cNvPr id="214" name="Shape 214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1900" cy="30861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Just like strings, we can get at any single element in a list using an index specified in</a:t>
            </a:r>
            <a:r>
              <a:rPr lang="en-US" sz="3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square brackets</a:t>
            </a:r>
          </a:p>
        </p:txBody>
      </p:sp>
      <p:pic>
        <p:nvPicPr>
          <p:cNvPr id="215" name="Shape 2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775" y="992909"/>
            <a:ext cx="273685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Shape 216"/>
          <p:cNvSpPr txBox="1"/>
          <p:nvPr/>
        </p:nvSpPr>
        <p:spPr>
          <a:xfrm>
            <a:off x="1727200" y="6375401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1155700" y="5651501"/>
            <a:ext cx="1879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Joseph</a:t>
            </a:r>
          </a:p>
        </p:txBody>
      </p:sp>
      <p:sp>
        <p:nvSpPr>
          <p:cNvPr id="218" name="Shape 218"/>
          <p:cNvSpPr txBox="1"/>
          <p:nvPr/>
        </p:nvSpPr>
        <p:spPr>
          <a:xfrm>
            <a:off x="7429500" y="5065701"/>
            <a:ext cx="8156400" cy="2339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 'Joseph', 'Glenn', 'Sally' 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Glenn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  <p:sp>
        <p:nvSpPr>
          <p:cNvPr id="219" name="Shape 219"/>
          <p:cNvSpPr txBox="1"/>
          <p:nvPr/>
        </p:nvSpPr>
        <p:spPr>
          <a:xfrm>
            <a:off x="3606800" y="6375401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3035300" y="5651501"/>
            <a:ext cx="1879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Glenn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5486400" y="6375401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</p:txBody>
      </p:sp>
      <p:sp>
        <p:nvSpPr>
          <p:cNvPr id="222" name="Shape 222"/>
          <p:cNvSpPr txBox="1"/>
          <p:nvPr/>
        </p:nvSpPr>
        <p:spPr>
          <a:xfrm>
            <a:off x="4914900" y="5651501"/>
            <a:ext cx="1879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 txBox="1">
            <a:spLocks noGrp="1"/>
          </p:cNvSpPr>
          <p:nvPr>
            <p:ph type="title"/>
          </p:nvPr>
        </p:nvSpPr>
        <p:spPr>
          <a:xfrm>
            <a:off x="1155700" y="789709"/>
            <a:ext cx="13449300" cy="175029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are Mutable</a:t>
            </a:r>
          </a:p>
        </p:txBody>
      </p:sp>
      <p:sp>
        <p:nvSpPr>
          <p:cNvPr id="228" name="Shape 228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7331075" cy="51562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Strings are </a:t>
            </a: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immutable</a:t>
            </a: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 we cannot change the contents of a string - we must make a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new string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make any change</a:t>
            </a:r>
          </a:p>
          <a:p>
            <a:pPr marL="457200" lvl="0" indent="-444500">
              <a:spcAft>
                <a:spcPts val="1000"/>
              </a:spcAft>
              <a:buSzPct val="100000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are </a:t>
            </a:r>
            <a:r>
              <a:rPr lang="en-US" sz="34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4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mutable</a:t>
            </a:r>
            <a:r>
              <a:rPr lang="en-US" sz="34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  <a:r>
              <a:rPr lang="en-US" sz="34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 we can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change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 element of a list using the </a:t>
            </a:r>
            <a:r>
              <a:rPr lang="en-US" sz="34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index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operator</a:t>
            </a:r>
          </a:p>
        </p:txBody>
      </p:sp>
      <p:sp>
        <p:nvSpPr>
          <p:cNvPr id="229" name="Shape 229"/>
          <p:cNvSpPr txBox="1"/>
          <p:nvPr/>
        </p:nvSpPr>
        <p:spPr>
          <a:xfrm>
            <a:off x="9334300" y="2247900"/>
            <a:ext cx="6464399" cy="59694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'Banana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'b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abin"/>
              <a:buNone/>
            </a:pPr>
            <a:r>
              <a:rPr lang="en-US" sz="2400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Traceback</a:t>
            </a:r>
            <a:r>
              <a:rPr lang="en-US" sz="2400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abin"/>
              <a:buNone/>
            </a:pPr>
            <a:r>
              <a:rPr lang="en-US" sz="2400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TypeError</a:t>
            </a:r>
            <a:r>
              <a:rPr lang="en-US" sz="2400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: '</a:t>
            </a:r>
            <a:r>
              <a:rPr lang="en-US" sz="2400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str</a:t>
            </a:r>
            <a:r>
              <a:rPr lang="en-US" sz="2400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' object does not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support item assignment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.lower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banana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lotto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[2, 14, 26, 41, 63]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lotto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[2, 14, 26, 41, 63]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lotto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28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lotto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[2, 14,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28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41, 63]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 txBox="1">
            <a:spLocks noGrp="1"/>
          </p:cNvSpPr>
          <p:nvPr>
            <p:ph type="title"/>
          </p:nvPr>
        </p:nvSpPr>
        <p:spPr>
          <a:xfrm>
            <a:off x="1155700" y="789709"/>
            <a:ext cx="13144500" cy="175029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How Long is a List?</a:t>
            </a:r>
          </a:p>
        </p:txBody>
      </p:sp>
      <p:sp>
        <p:nvSpPr>
          <p:cNvPr id="235" name="Shape 235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7488238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400" u="none" strike="noStrike" cap="none" dirty="0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len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 takes a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as a parameter and returns the number of </a:t>
            </a:r>
            <a:r>
              <a:rPr lang="en-US" sz="34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elements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in the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</a:p>
          <a:p>
            <a:pPr marL="457200" marR="0" lvl="0" indent="-4445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Actually </a:t>
            </a:r>
            <a:r>
              <a:rPr lang="en-US" sz="3400" u="none" strike="noStrike" cap="none" dirty="0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len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tells us the number of elements of any set or sequence (such as a string...)</a:t>
            </a:r>
          </a:p>
        </p:txBody>
      </p:sp>
      <p:sp>
        <p:nvSpPr>
          <p:cNvPr id="236" name="Shape 236"/>
          <p:cNvSpPr txBox="1"/>
          <p:nvPr/>
        </p:nvSpPr>
        <p:spPr>
          <a:xfrm>
            <a:off x="9239250" y="3543301"/>
            <a:ext cx="6119700" cy="3975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'Hello Bob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[ 1, 2, 'joe', 99]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dirty="0">
              <a:latin typeface="Courier"/>
              <a:ea typeface="Courier"/>
              <a:cs typeface="Courier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Using the </a:t>
            </a:r>
            <a:r>
              <a:rPr lang="en-US" sz="7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range</a:t>
            </a:r>
            <a:r>
              <a:rPr lang="en-US" sz="7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</a:p>
        </p:txBody>
      </p:sp>
      <p:sp>
        <p:nvSpPr>
          <p:cNvPr id="242" name="Shape 242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5916613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range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returns a list of numbers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range from zero to one less than the </a:t>
            </a:r>
            <a:r>
              <a:rPr lang="en-US" sz="34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parameter</a:t>
            </a:r>
          </a:p>
          <a:p>
            <a:pPr marL="457200" marR="0" lvl="0" indent="-4445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construct an index loop using </a:t>
            </a:r>
            <a:r>
              <a:rPr lang="en-US" sz="34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an integer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iterator</a:t>
            </a:r>
          </a:p>
        </p:txBody>
      </p:sp>
      <p:sp>
        <p:nvSpPr>
          <p:cNvPr id="243" name="Shape 243"/>
          <p:cNvSpPr txBox="1"/>
          <p:nvPr/>
        </p:nvSpPr>
        <p:spPr>
          <a:xfrm>
            <a:off x="7726200" y="3022600"/>
            <a:ext cx="7843799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range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4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[0, 1, 2, 3]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['Joseph', 'Glenn', 'Sally']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3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range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))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[0, 1, 2]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Tale of Two Loops...</a:t>
            </a:r>
          </a:p>
        </p:txBody>
      </p:sp>
      <p:sp>
        <p:nvSpPr>
          <p:cNvPr id="249" name="Shape 249"/>
          <p:cNvSpPr txBox="1"/>
          <p:nvPr/>
        </p:nvSpPr>
        <p:spPr>
          <a:xfrm>
            <a:off x="584950" y="3118400"/>
            <a:ext cx="7175700" cy="3594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['Joseph', 'Glenn', 'Sally']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 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'Happy New Year:’,  </a:t>
            </a:r>
            <a:r>
              <a:rPr lang="en-US" sz="2400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range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friends)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friend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'Happy New Year:',  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friend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250" name="Shape 250"/>
          <p:cNvSpPr txBox="1"/>
          <p:nvPr/>
        </p:nvSpPr>
        <p:spPr>
          <a:xfrm>
            <a:off x="8105725" y="5652525"/>
            <a:ext cx="5591699" cy="2139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Joseph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Glenn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Sally</a:t>
            </a:r>
          </a:p>
        </p:txBody>
      </p:sp>
      <p:sp>
        <p:nvSpPr>
          <p:cNvPr id="251" name="Shape 251"/>
          <p:cNvSpPr txBox="1"/>
          <p:nvPr/>
        </p:nvSpPr>
        <p:spPr>
          <a:xfrm>
            <a:off x="8105725" y="2509825"/>
            <a:ext cx="7888800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['Joseph', 'Glenn', 'Sally']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3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range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(friends))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[0, 1, 2]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Concatenating</a:t>
            </a:r>
            <a:r>
              <a:rPr lang="en-US" sz="7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Using </a:t>
            </a:r>
            <a:r>
              <a:rPr lang="en-US" sz="7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+</a:t>
            </a:r>
          </a:p>
        </p:txBody>
      </p:sp>
      <p:sp>
        <p:nvSpPr>
          <p:cNvPr id="257" name="Shape 257"/>
          <p:cNvSpPr txBox="1">
            <a:spLocks noGrp="1"/>
          </p:cNvSpPr>
          <p:nvPr>
            <p:ph type="body" idx="1"/>
          </p:nvPr>
        </p:nvSpPr>
        <p:spPr>
          <a:xfrm>
            <a:off x="1778000" y="2933702"/>
            <a:ext cx="5410200" cy="26034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create a new list by adding two ex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ting lists together</a:t>
            </a:r>
          </a:p>
        </p:txBody>
      </p:sp>
      <p:sp>
        <p:nvSpPr>
          <p:cNvPr id="258" name="Shape 258"/>
          <p:cNvSpPr txBox="1"/>
          <p:nvPr/>
        </p:nvSpPr>
        <p:spPr>
          <a:xfrm>
            <a:off x="9714275" y="2714100"/>
            <a:ext cx="4965900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[1, 2, 3]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b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[4, 5, 6]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b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</a:t>
            </a:r>
            <a:r>
              <a:rPr lang="en-US" sz="32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[1, 2, 3, 4, 5, 6]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</a:t>
            </a:r>
            <a:r>
              <a:rPr lang="en-US" sz="32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[1, 2, 3]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26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Can Be </a:t>
            </a:r>
            <a:r>
              <a:rPr lang="en-US" sz="7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Sliced</a:t>
            </a:r>
            <a:r>
              <a:rPr lang="en-US" sz="7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Using</a:t>
            </a:r>
            <a:r>
              <a:rPr lang="en-US" sz="7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</a:t>
            </a:r>
          </a:p>
        </p:txBody>
      </p:sp>
      <p:sp>
        <p:nvSpPr>
          <p:cNvPr id="264" name="Shape 264"/>
          <p:cNvSpPr txBox="1"/>
          <p:nvPr/>
        </p:nvSpPr>
        <p:spPr>
          <a:xfrm>
            <a:off x="962200" y="2875600"/>
            <a:ext cx="6941699" cy="4984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[9, 41, 12, 3, 74, 15]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[1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3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[41,12]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4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[9, 41, 12, 3]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[3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[3, 74, 15]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[9, 41, 12, 3, 74, 15]</a:t>
            </a:r>
          </a:p>
        </p:txBody>
      </p:sp>
      <p:sp>
        <p:nvSpPr>
          <p:cNvPr id="265" name="Shape 265"/>
          <p:cNvSpPr txBox="1"/>
          <p:nvPr/>
        </p:nvSpPr>
        <p:spPr>
          <a:xfrm>
            <a:off x="8506725" y="4033425"/>
            <a:ext cx="5465399" cy="219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Remember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  Just like in strings, the second number is </a:t>
            </a: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up to but not including</a:t>
            </a: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2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 Methods</a:t>
            </a:r>
          </a:p>
        </p:txBody>
      </p:sp>
      <p:sp>
        <p:nvSpPr>
          <p:cNvPr id="271" name="Shape 271"/>
          <p:cNvSpPr txBox="1"/>
          <p:nvPr/>
        </p:nvSpPr>
        <p:spPr>
          <a:xfrm>
            <a:off x="1918550" y="3110400"/>
            <a:ext cx="12042899" cy="3225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list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type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&lt;type 'list'&gt;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dir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['append', 'count', 'extend', 'index', 'insert', 'pop', 'remove', 'reverse', 'sort']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</p:txBody>
      </p:sp>
      <p:sp>
        <p:nvSpPr>
          <p:cNvPr id="272" name="Shape 272"/>
          <p:cNvSpPr txBox="1"/>
          <p:nvPr/>
        </p:nvSpPr>
        <p:spPr>
          <a:xfrm>
            <a:off x="2913200" y="7123112"/>
            <a:ext cx="104169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u="sng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http://docs.python.org/tutorial/datastructures.html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Building a </a:t>
            </a:r>
            <a:r>
              <a:rPr lang="en-US" sz="76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ist from </a:t>
            </a:r>
            <a:r>
              <a:rPr lang="en-US" sz="76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cratch</a:t>
            </a:r>
          </a:p>
        </p:txBody>
      </p:sp>
      <p:sp>
        <p:nvSpPr>
          <p:cNvPr id="278" name="Shape 27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302375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create an empty 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then add elements using the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append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method</a:t>
            </a:r>
          </a:p>
          <a:p>
            <a:pPr marL="457200" marR="0" lvl="0" indent="-4445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stays in order and new elements are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added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at the end of the 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</a:p>
        </p:txBody>
      </p:sp>
      <p:sp>
        <p:nvSpPr>
          <p:cNvPr id="279" name="Shape 279"/>
          <p:cNvSpPr txBox="1"/>
          <p:nvPr/>
        </p:nvSpPr>
        <p:spPr>
          <a:xfrm>
            <a:off x="8367175" y="2990850"/>
            <a:ext cx="7455599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list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.append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('book')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.append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(99)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['book', 99]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.append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('cookie')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['book', 99, 'cookie']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28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 Something in a List?</a:t>
            </a:r>
          </a:p>
        </p:txBody>
      </p:sp>
      <p:sp>
        <p:nvSpPr>
          <p:cNvPr id="285" name="Shape 285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573838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provides two </a:t>
            </a:r>
            <a:r>
              <a:rPr lang="en-US" sz="34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operators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let you check if an item is in a list</a:t>
            </a:r>
          </a:p>
          <a:p>
            <a:pPr marL="457200" marR="0" lvl="0" indent="-4445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These are logical operators that return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True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or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False</a:t>
            </a:r>
          </a:p>
          <a:p>
            <a:pPr marL="457200" marR="0" lvl="0" indent="-4445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They do not modify the list</a:t>
            </a:r>
          </a:p>
        </p:txBody>
      </p:sp>
      <p:sp>
        <p:nvSpPr>
          <p:cNvPr id="286" name="Shape 286"/>
          <p:cNvSpPr txBox="1"/>
          <p:nvPr/>
        </p:nvSpPr>
        <p:spPr>
          <a:xfrm>
            <a:off x="8585238" y="2940050"/>
            <a:ext cx="7131013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some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[1, 9, 21, 10, 16]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9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some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15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some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False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20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not 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some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29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8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are in Order</a:t>
            </a:r>
          </a:p>
        </p:txBody>
      </p:sp>
      <p:sp>
        <p:nvSpPr>
          <p:cNvPr id="292" name="Shape 292"/>
          <p:cNvSpPr txBox="1">
            <a:spLocks noGrp="1"/>
          </p:cNvSpPr>
          <p:nvPr>
            <p:ph type="body" idx="1"/>
          </p:nvPr>
        </p:nvSpPr>
        <p:spPr>
          <a:xfrm>
            <a:off x="622301" y="2603500"/>
            <a:ext cx="5524500" cy="57022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5906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can hold many items and keeps those items in the order until we do something to change the order</a:t>
            </a:r>
          </a:p>
          <a:p>
            <a:pPr marL="1104900" marR="0" lvl="0" indent="-5906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can be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sorted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b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(i.e., change its order)</a:t>
            </a:r>
          </a:p>
          <a:p>
            <a:pPr marL="1104900" marR="0" lvl="0" indent="-5906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sort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method (unlike in strings) means </a:t>
            </a: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sort yourself</a:t>
            </a: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</a:p>
        </p:txBody>
      </p:sp>
      <p:sp>
        <p:nvSpPr>
          <p:cNvPr id="293" name="Shape 293"/>
          <p:cNvSpPr txBox="1"/>
          <p:nvPr/>
        </p:nvSpPr>
        <p:spPr>
          <a:xfrm>
            <a:off x="6771475" y="3041075"/>
            <a:ext cx="8976525" cy="436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 'Joseph', 'Glenn', 'Sally' 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.sort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6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['Glenn', 'Joseph', 'Sally']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sz="26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rgbClr val="00FF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Joseph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Built</a:t>
            </a:r>
            <a:r>
              <a:rPr lang="en-US" sz="76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 Functions and Lists</a:t>
            </a:r>
          </a:p>
        </p:txBody>
      </p:sp>
      <p:sp>
        <p:nvSpPr>
          <p:cNvPr id="299" name="Shape 299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5802313" cy="49403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There are a number of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functions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built into </a:t>
            </a:r>
            <a:r>
              <a:rPr lang="en-US" sz="34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take 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as parameters</a:t>
            </a:r>
          </a:p>
          <a:p>
            <a:pPr marL="457200" marR="0" lvl="0" indent="-4445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Remember the loops we built?  These are much simpler.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7929600" y="2455850"/>
            <a:ext cx="7885799" cy="5540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[3, 41, 12, 9, 74, 15]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6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max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74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min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3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sum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154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sum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)/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25.6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 txBox="1"/>
          <p:nvPr/>
        </p:nvSpPr>
        <p:spPr>
          <a:xfrm>
            <a:off x="7314550" y="4800524"/>
            <a:ext cx="8127900" cy="398787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numlist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list()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while True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= input('Enter a number: 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 if </a:t>
            </a:r>
            <a:r>
              <a:rPr lang="en-US" sz="2600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== 'done' : 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 value = float(</a:t>
            </a:r>
            <a:r>
              <a:rPr lang="en-US" sz="2600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numlist.append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(value)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i="0" u="none" strike="noStrike" cap="none" dirty="0">
              <a:solidFill>
                <a:srgbClr val="FFFF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average = sum(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numlist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 / 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numlist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print('Average:', average)</a:t>
            </a:r>
          </a:p>
        </p:txBody>
      </p:sp>
      <p:sp>
        <p:nvSpPr>
          <p:cNvPr id="306" name="Shape 306"/>
          <p:cNvSpPr txBox="1"/>
          <p:nvPr/>
        </p:nvSpPr>
        <p:spPr>
          <a:xfrm>
            <a:off x="697125" y="1031888"/>
            <a:ext cx="8127900" cy="483551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total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count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while True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= input('Enter a number: 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 if </a:t>
            </a:r>
            <a:r>
              <a:rPr lang="en-US" sz="2600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== 'done' : 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 value = float(</a:t>
            </a:r>
            <a:r>
              <a:rPr lang="en-US" sz="2600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total = total + value   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 count = count + 1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i="0" u="none" strike="noStrike" cap="none" dirty="0">
              <a:solidFill>
                <a:srgbClr val="FFFF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average = total / count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print('Average:', average)</a:t>
            </a:r>
          </a:p>
        </p:txBody>
      </p:sp>
      <p:sp>
        <p:nvSpPr>
          <p:cNvPr id="307" name="Shape 307"/>
          <p:cNvSpPr txBox="1"/>
          <p:nvPr/>
        </p:nvSpPr>
        <p:spPr>
          <a:xfrm>
            <a:off x="9308725" y="828688"/>
            <a:ext cx="5435700" cy="28623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Enter a number: 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Enter a number: 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Enter a number: 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Enter a number: 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Average: 5.66666666667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3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Best Friends: Strings and Lists</a:t>
            </a:r>
          </a:p>
        </p:txBody>
      </p:sp>
      <p:sp>
        <p:nvSpPr>
          <p:cNvPr id="313" name="Shape 313"/>
          <p:cNvSpPr txBox="1"/>
          <p:nvPr/>
        </p:nvSpPr>
        <p:spPr>
          <a:xfrm>
            <a:off x="1498600" y="2349500"/>
            <a:ext cx="6749100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abc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'With three words</a:t>
            </a:r>
            <a:r>
              <a:rPr lang="en-US" sz="300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=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abc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.split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['With', 'three', 'words']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3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00FF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With</a:t>
            </a:r>
          </a:p>
        </p:txBody>
      </p:sp>
      <p:sp>
        <p:nvSpPr>
          <p:cNvPr id="314" name="Shape 314"/>
          <p:cNvSpPr txBox="1"/>
          <p:nvPr/>
        </p:nvSpPr>
        <p:spPr>
          <a:xfrm>
            <a:off x="9398000" y="2292350"/>
            <a:ext cx="6450900" cy="4984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['With', 'three', 'words']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With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Three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Words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  <p:sp>
        <p:nvSpPr>
          <p:cNvPr id="315" name="Shape 315"/>
          <p:cNvSpPr txBox="1"/>
          <p:nvPr/>
        </p:nvSpPr>
        <p:spPr>
          <a:xfrm>
            <a:off x="457200" y="7194550"/>
            <a:ext cx="151256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Split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breaks a string into parts and produces a list of strings.  We think of these as words.  We can </a:t>
            </a:r>
            <a:r>
              <a:rPr lang="en-US" sz="34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access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 particular word or </a:t>
            </a:r>
            <a:r>
              <a:rPr lang="en-US" sz="34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loop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through all the words.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320"/>
          <p:cNvSpPr txBox="1"/>
          <p:nvPr/>
        </p:nvSpPr>
        <p:spPr>
          <a:xfrm>
            <a:off x="965199" y="1085851"/>
            <a:ext cx="9364664" cy="702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'A lot               of spaces</a:t>
            </a:r>
            <a:r>
              <a:rPr lang="en-US" sz="260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etc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line.</a:t>
            </a:r>
            <a:r>
              <a:rPr lang="en-US" sz="2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split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etc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['A', 'lot', 'of', 'spaces']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'</a:t>
            </a:r>
            <a:r>
              <a:rPr lang="en-US" sz="26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first</a:t>
            </a:r>
            <a:r>
              <a:rPr lang="en-US" sz="26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;</a:t>
            </a:r>
            <a:r>
              <a:rPr lang="en-US" sz="26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second</a:t>
            </a:r>
            <a:r>
              <a:rPr lang="en-US" sz="26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;</a:t>
            </a:r>
            <a:r>
              <a:rPr lang="en-US" sz="26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third</a:t>
            </a:r>
            <a:r>
              <a:rPr lang="en-US" sz="260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thing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.split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thing</a:t>
            </a:r>
            <a:r>
              <a:rPr lang="en-US" sz="26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</a:t>
            </a:r>
            <a:r>
              <a:rPr lang="en-US" sz="26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first;second;third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thing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26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thing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.split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';'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thing</a:t>
            </a:r>
            <a:r>
              <a:rPr lang="en-US" sz="26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['first', 'second', 'third']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thing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26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  <p:sp>
        <p:nvSpPr>
          <p:cNvPr id="321" name="Shape 321"/>
          <p:cNvSpPr txBox="1"/>
          <p:nvPr/>
        </p:nvSpPr>
        <p:spPr>
          <a:xfrm>
            <a:off x="9226644" y="2031185"/>
            <a:ext cx="6490311" cy="46767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457200" marR="0" lvl="0" indent="-419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●"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When you do not specify a </a:t>
            </a:r>
            <a:r>
              <a:rPr lang="en-US" sz="30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delimiter</a:t>
            </a: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, multiple spaces are treated like</a:t>
            </a:r>
            <a:r>
              <a:rPr lang="en-US" sz="30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one delimiter</a:t>
            </a:r>
          </a:p>
          <a:p>
            <a:pPr marL="457200" marR="0" lvl="0" indent="-419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●"/>
            </a:pPr>
            <a:endParaRPr lang="en-US" sz="30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457200" marR="0" lvl="0" indent="-419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●"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can specify what </a:t>
            </a:r>
            <a:r>
              <a:rPr lang="en-US" sz="30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delimiter</a:t>
            </a: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character to use in the 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splitting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 txBox="1"/>
          <p:nvPr/>
        </p:nvSpPr>
        <p:spPr>
          <a:xfrm>
            <a:off x="2526075" y="2058975"/>
            <a:ext cx="8889299" cy="3324300"/>
          </a:xfrm>
          <a:prstGeom prst="rect">
            <a:avLst/>
          </a:prstGeom>
          <a:noFill/>
          <a:ln w="12700" cap="rnd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fhand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open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mbox-short.txt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fhand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.rstrip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 not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.startswith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('From ') :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continue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words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.split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words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[2]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endParaRPr lang="en-US" sz="2400" b="1" i="0" u="none" strike="noStrike" cap="none" dirty="0">
              <a:solidFill>
                <a:srgbClr val="00FFFF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27" name="Shape 327"/>
          <p:cNvSpPr txBox="1"/>
          <p:nvPr/>
        </p:nvSpPr>
        <p:spPr>
          <a:xfrm>
            <a:off x="13538200" y="2330450"/>
            <a:ext cx="816000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Sat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Fri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Fri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Fri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  ...</a:t>
            </a:r>
          </a:p>
        </p:txBody>
      </p:sp>
      <p:sp>
        <p:nvSpPr>
          <p:cNvPr id="328" name="Shape 328"/>
          <p:cNvSpPr txBox="1"/>
          <p:nvPr/>
        </p:nvSpPr>
        <p:spPr>
          <a:xfrm>
            <a:off x="642650" y="945775"/>
            <a:ext cx="130700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lang="en-US" sz="36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stephen.marquard@uct.ac.za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0" i="0" u="none" strike="noStrike" cap="none" dirty="0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Sat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Jan  5 09:14:16 2008</a:t>
            </a:r>
          </a:p>
        </p:txBody>
      </p:sp>
      <p:sp>
        <p:nvSpPr>
          <p:cNvPr id="329" name="Shape 329"/>
          <p:cNvSpPr txBox="1"/>
          <p:nvPr/>
        </p:nvSpPr>
        <p:spPr>
          <a:xfrm>
            <a:off x="1212375" y="6000750"/>
            <a:ext cx="14283299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'From 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stephen.marquard@uct.ac.za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Sat Jan  5 09:14:16 2008'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words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.split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words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['From', '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stephen.marquard@uct.ac.za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'Sat', 'Jan', '5', '09:14:16', '2008']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hape 3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Double Split Pattern</a:t>
            </a:r>
          </a:p>
        </p:txBody>
      </p:sp>
      <p:sp>
        <p:nvSpPr>
          <p:cNvPr id="335" name="Shape 335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1900" cy="129698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Sometimes we split a line one way, and then grab one of the pieces of the line and split that piece again</a:t>
            </a:r>
          </a:p>
        </p:txBody>
      </p:sp>
      <p:sp>
        <p:nvSpPr>
          <p:cNvPr id="337" name="Shape 337"/>
          <p:cNvSpPr txBox="1"/>
          <p:nvPr/>
        </p:nvSpPr>
        <p:spPr>
          <a:xfrm>
            <a:off x="1155700" y="4526525"/>
            <a:ext cx="133427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From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stephen.marquard@</a:t>
            </a:r>
            <a:r>
              <a:rPr lang="en-US" sz="30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uct.ac.za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Sat Jan  5 09:14:16 2008</a:t>
            </a:r>
          </a:p>
        </p:txBody>
      </p:sp>
      <p:sp>
        <p:nvSpPr>
          <p:cNvPr id="338" name="Shape 338"/>
          <p:cNvSpPr txBox="1"/>
          <p:nvPr/>
        </p:nvSpPr>
        <p:spPr>
          <a:xfrm>
            <a:off x="1155700" y="5289200"/>
            <a:ext cx="5169599" cy="188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words = </a:t>
            </a:r>
            <a:r>
              <a:rPr lang="en-US" sz="24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.split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email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words[1]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 New"/>
              </a:rPr>
              <a:t>print pieces[1]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Double Split Pattern</a:t>
            </a:r>
          </a:p>
        </p:txBody>
      </p:sp>
      <p:sp>
        <p:nvSpPr>
          <p:cNvPr id="345" name="Shape 345"/>
          <p:cNvSpPr txBox="1"/>
          <p:nvPr/>
        </p:nvSpPr>
        <p:spPr>
          <a:xfrm>
            <a:off x="7336425" y="5835725"/>
            <a:ext cx="65738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Arial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stephen.marquard@uct.ac.za</a:t>
            </a:r>
            <a:endParaRPr lang="en-US" sz="24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46" name="Shape 346"/>
          <p:cNvSpPr txBox="1"/>
          <p:nvPr/>
        </p:nvSpPr>
        <p:spPr>
          <a:xfrm>
            <a:off x="1155700" y="4506450"/>
            <a:ext cx="13182600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From </a:t>
            </a:r>
            <a:r>
              <a:rPr lang="en-US" sz="3000" b="1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stephen.marquard@</a:t>
            </a:r>
            <a:r>
              <a:rPr lang="en-US" sz="30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uct.ac.za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Sat Jan  5 09:14:16 2008</a:t>
            </a:r>
          </a:p>
        </p:txBody>
      </p:sp>
      <p:sp>
        <p:nvSpPr>
          <p:cNvPr id="347" name="Shape 347"/>
          <p:cNvSpPr txBox="1"/>
          <p:nvPr/>
        </p:nvSpPr>
        <p:spPr>
          <a:xfrm>
            <a:off x="1155700" y="5289200"/>
            <a:ext cx="5169599" cy="188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words = </a:t>
            </a:r>
            <a:r>
              <a:rPr lang="en-US" sz="24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.split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email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words[1]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 New"/>
              </a:rPr>
              <a:t>print pieces[1]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3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Double Split Pattern</a:t>
            </a:r>
          </a:p>
        </p:txBody>
      </p:sp>
      <p:sp>
        <p:nvSpPr>
          <p:cNvPr id="353" name="Shape 353"/>
          <p:cNvSpPr txBox="1"/>
          <p:nvPr/>
        </p:nvSpPr>
        <p:spPr>
          <a:xfrm>
            <a:off x="7321275" y="6326775"/>
            <a:ext cx="6981300" cy="482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Arial"/>
              <a:buNone/>
            </a:pP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['</a:t>
            </a:r>
            <a:r>
              <a:rPr lang="en-US" sz="24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stephen.marquard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', </a:t>
            </a:r>
            <a:r>
              <a:rPr lang="en-US" sz="24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4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uct.ac.za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']</a:t>
            </a:r>
          </a:p>
        </p:txBody>
      </p:sp>
      <p:sp>
        <p:nvSpPr>
          <p:cNvPr id="355" name="Shape 355"/>
          <p:cNvSpPr txBox="1"/>
          <p:nvPr/>
        </p:nvSpPr>
        <p:spPr>
          <a:xfrm>
            <a:off x="1155700" y="4526525"/>
            <a:ext cx="133427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From </a:t>
            </a:r>
            <a:r>
              <a:rPr lang="en-US" sz="3000" b="1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stephen.marquard@</a:t>
            </a:r>
            <a:r>
              <a:rPr lang="en-US" sz="30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uct.ac.za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Sat Jan  5 09:14:16 2008</a:t>
            </a:r>
          </a:p>
        </p:txBody>
      </p:sp>
      <p:sp>
        <p:nvSpPr>
          <p:cNvPr id="356" name="Shape 356"/>
          <p:cNvSpPr txBox="1"/>
          <p:nvPr/>
        </p:nvSpPr>
        <p:spPr>
          <a:xfrm>
            <a:off x="1155700" y="5441600"/>
            <a:ext cx="6179100" cy="188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words = </a:t>
            </a:r>
            <a:r>
              <a:rPr lang="en-US" sz="24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.split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email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words[1]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pieces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email.split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('@')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 New"/>
              </a:rPr>
              <a:t>print pieces[1]</a:t>
            </a:r>
          </a:p>
        </p:txBody>
      </p:sp>
      <p:sp>
        <p:nvSpPr>
          <p:cNvPr id="357" name="Shape 357"/>
          <p:cNvSpPr txBox="1"/>
          <p:nvPr/>
        </p:nvSpPr>
        <p:spPr>
          <a:xfrm>
            <a:off x="7336425" y="5759525"/>
            <a:ext cx="65738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Arial"/>
              <a:buNone/>
            </a:pP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stephen.marquard@uct.ac.za</a:t>
            </a:r>
            <a:endParaRPr lang="en-US" sz="24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Shape 3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Double Split Pattern</a:t>
            </a:r>
          </a:p>
        </p:txBody>
      </p:sp>
      <p:sp>
        <p:nvSpPr>
          <p:cNvPr id="364" name="Shape 364"/>
          <p:cNvSpPr txBox="1"/>
          <p:nvPr/>
        </p:nvSpPr>
        <p:spPr>
          <a:xfrm>
            <a:off x="7321275" y="6326775"/>
            <a:ext cx="6981300" cy="482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Arial"/>
              <a:buNone/>
            </a:pP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['</a:t>
            </a:r>
            <a:r>
              <a:rPr lang="en-US" sz="24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stephen.marquard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24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uct.ac.za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']</a:t>
            </a:r>
          </a:p>
        </p:txBody>
      </p:sp>
      <p:sp>
        <p:nvSpPr>
          <p:cNvPr id="365" name="Shape 365"/>
          <p:cNvSpPr txBox="1"/>
          <p:nvPr/>
        </p:nvSpPr>
        <p:spPr>
          <a:xfrm>
            <a:off x="1155700" y="4526525"/>
            <a:ext cx="133427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From </a:t>
            </a:r>
            <a:r>
              <a:rPr lang="en-US" sz="3000" b="1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stephen.marquard@</a:t>
            </a:r>
            <a:r>
              <a:rPr lang="en-US" sz="30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uct.ac.za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Sat Jan  5 09:14:16 2008</a:t>
            </a:r>
          </a:p>
        </p:txBody>
      </p:sp>
      <p:sp>
        <p:nvSpPr>
          <p:cNvPr id="366" name="Shape 366"/>
          <p:cNvSpPr txBox="1"/>
          <p:nvPr/>
        </p:nvSpPr>
        <p:spPr>
          <a:xfrm>
            <a:off x="1155700" y="5594000"/>
            <a:ext cx="6179100" cy="188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words = </a:t>
            </a:r>
            <a:r>
              <a:rPr lang="en-US" sz="24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.split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email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words[1]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pieces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email.split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('@')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pieces[1]</a:t>
            </a:r>
            <a:r>
              <a:rPr lang="en-US" sz="24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endParaRPr lang="en-US" sz="2400" b="1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67" name="Shape 367"/>
          <p:cNvSpPr txBox="1"/>
          <p:nvPr/>
        </p:nvSpPr>
        <p:spPr>
          <a:xfrm>
            <a:off x="7336425" y="5759525"/>
            <a:ext cx="65738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Arial"/>
              <a:buNone/>
            </a:pP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stephen.marquard@uct.ac.za</a:t>
            </a:r>
            <a:endParaRPr lang="en-US" sz="24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68" name="Shape 368"/>
          <p:cNvSpPr txBox="1"/>
          <p:nvPr/>
        </p:nvSpPr>
        <p:spPr>
          <a:xfrm>
            <a:off x="7246300" y="6766900"/>
            <a:ext cx="2729099" cy="548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uct.ac.za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Shape 37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 Summary</a:t>
            </a:r>
          </a:p>
        </p:txBody>
      </p:sp>
      <p:sp>
        <p:nvSpPr>
          <p:cNvPr id="375" name="Shape 375"/>
          <p:cNvSpPr txBox="1"/>
          <p:nvPr/>
        </p:nvSpPr>
        <p:spPr>
          <a:xfrm>
            <a:off x="774275" y="2733900"/>
            <a:ext cx="7450500" cy="51102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lvl="0" indent="-394462" rtl="0">
              <a:spcBef>
                <a:spcPts val="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Concept of a collection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and definite loops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Indexing and lookup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 mutability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Functions: </a:t>
            </a:r>
            <a:r>
              <a:rPr lang="en-US" sz="3600" dirty="0" err="1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len</a:t>
            </a: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, min, max, sum</a:t>
            </a:r>
          </a:p>
        </p:txBody>
      </p:sp>
      <p:sp>
        <p:nvSpPr>
          <p:cNvPr id="376" name="Shape 376"/>
          <p:cNvSpPr txBox="1"/>
          <p:nvPr/>
        </p:nvSpPr>
        <p:spPr>
          <a:xfrm>
            <a:off x="7932975" y="2733900"/>
            <a:ext cx="7565400" cy="51102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Slicing lists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 methods: append,  remove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Sorting lists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Splitting strings into lists of words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Using split to parse strings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 txBox="1"/>
          <p:nvPr/>
        </p:nvSpPr>
        <p:spPr>
          <a:xfrm>
            <a:off x="1155700" y="1155705"/>
            <a:ext cx="13932000" cy="811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sz="3600" dirty="0">
                <a:solidFill>
                  <a:srgbClr val="FFFF00"/>
                </a:solidFill>
              </a:rPr>
              <a:t>Acknowledgements / Contributions</a:t>
            </a:r>
          </a:p>
        </p:txBody>
      </p:sp>
      <p:sp>
        <p:nvSpPr>
          <p:cNvPr id="382" name="Shape 382"/>
          <p:cNvSpPr txBox="1"/>
          <p:nvPr/>
        </p:nvSpPr>
        <p:spPr>
          <a:xfrm>
            <a:off x="1206100" y="2296131"/>
            <a:ext cx="6797699" cy="581917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>
                <a:solidFill>
                  <a:srgbClr val="FFFFFF"/>
                </a:solidFill>
              </a:rPr>
              <a:t>These slides are Copyright 2010-  Charles R. Severance (</a:t>
            </a:r>
            <a:r>
              <a:rPr lang="en-US" sz="1800" u="sng">
                <a:solidFill>
                  <a:srgbClr val="FFFF00"/>
                </a:solidFill>
                <a:hlinkClick r:id="rId3"/>
              </a:rPr>
              <a:t>www.dr-chuck.com</a:t>
            </a:r>
            <a:r>
              <a:rPr lang="en-US" sz="1800">
                <a:solidFill>
                  <a:srgbClr val="FFFFFF"/>
                </a:solidFill>
              </a:rPr>
              <a:t>) of the University of Michigan School of Information and </a:t>
            </a:r>
            <a:r>
              <a:rPr lang="en-US" sz="1800" u="sng">
                <a:solidFill>
                  <a:srgbClr val="FFFF00"/>
                </a:solidFill>
                <a:hlinkClick r:id="rId4"/>
              </a:rPr>
              <a:t>open.umich.edu</a:t>
            </a:r>
            <a:r>
              <a:rPr lang="en-US" sz="1800">
                <a:solidFill>
                  <a:srgbClr val="FFFFFF"/>
                </a:solidFill>
              </a:rPr>
              <a:t> and 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</a:p>
          <a:p>
            <a:pPr lvl="0" rtl="0">
              <a:spcBef>
                <a:spcPts val="0"/>
              </a:spcBef>
              <a:buNone/>
            </a:pPr>
            <a:endParaRPr sz="180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1800">
                <a:solidFill>
                  <a:srgbClr val="FFFFFF"/>
                </a:solidFill>
              </a:rPr>
              <a:t>Initial Development: Charles Severance, University of Michigan School of Information</a:t>
            </a:r>
          </a:p>
          <a:p>
            <a:pPr lvl="0" rtl="0">
              <a:spcBef>
                <a:spcPts val="0"/>
              </a:spcBef>
              <a:buNone/>
            </a:pPr>
            <a:endParaRPr sz="180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Clr>
                <a:srgbClr val="000000"/>
              </a:buClr>
              <a:buSzPct val="61111"/>
              <a:buFont typeface="Arial"/>
              <a:buNone/>
            </a:pPr>
            <a:r>
              <a:rPr lang="en-US" sz="1800">
                <a:solidFill>
                  <a:srgbClr val="FFFFFF"/>
                </a:solidFill>
              </a:rPr>
              <a:t>… Insert new Contributors and Translators here</a:t>
            </a:r>
          </a:p>
          <a:p>
            <a:pPr lvl="0" rtl="0">
              <a:spcBef>
                <a:spcPts val="0"/>
              </a:spcBef>
              <a:buNone/>
            </a:pPr>
            <a:endParaRPr sz="1800">
              <a:solidFill>
                <a:srgbClr val="FFFFFF"/>
              </a:solidFill>
            </a:endParaRPr>
          </a:p>
        </p:txBody>
      </p:sp>
      <p:pic>
        <p:nvPicPr>
          <p:cNvPr id="383" name="Shape 38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7900" y="1049055"/>
            <a:ext cx="1024800" cy="10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Shape 38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897687" y="1227255"/>
            <a:ext cx="1968599" cy="6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Shape 385"/>
          <p:cNvSpPr txBox="1"/>
          <p:nvPr/>
        </p:nvSpPr>
        <p:spPr>
          <a:xfrm>
            <a:off x="8704400" y="2426605"/>
            <a:ext cx="6797699" cy="581728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>
                <a:solidFill>
                  <a:srgbClr val="FFFFFF"/>
                </a:solidFill>
              </a:rPr>
              <a:t>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2325</Words>
  <Application>Microsoft Macintosh PowerPoint</Application>
  <PresentationFormat>Custom</PresentationFormat>
  <Paragraphs>335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Cabin</vt:lpstr>
      <vt:lpstr>Courier</vt:lpstr>
      <vt:lpstr>Courier New</vt:lpstr>
      <vt:lpstr>Gill Sans</vt:lpstr>
      <vt:lpstr>Title &amp; Subtitle</vt:lpstr>
      <vt:lpstr>Python Lists</vt:lpstr>
      <vt:lpstr>Programming</vt:lpstr>
      <vt:lpstr>What is Not a “Collection”?</vt:lpstr>
      <vt:lpstr>A List is a Kind of Collection</vt:lpstr>
      <vt:lpstr>List Constants</vt:lpstr>
      <vt:lpstr>We Already Use Lists!</vt:lpstr>
      <vt:lpstr>Lists and Definite Loops - Best Pals</vt:lpstr>
      <vt:lpstr>Looking Inside Lists</vt:lpstr>
      <vt:lpstr>Lists are Mutable</vt:lpstr>
      <vt:lpstr>How Long is a List?</vt:lpstr>
      <vt:lpstr>Using the range Function</vt:lpstr>
      <vt:lpstr>A Tale of Two Loops...</vt:lpstr>
      <vt:lpstr>Concatenating Lists Using +</vt:lpstr>
      <vt:lpstr>Lists Can Be Sliced Using :</vt:lpstr>
      <vt:lpstr>List Methods</vt:lpstr>
      <vt:lpstr>Building a List from Scratch</vt:lpstr>
      <vt:lpstr>Is Something in a List?</vt:lpstr>
      <vt:lpstr>Lists are in Order</vt:lpstr>
      <vt:lpstr>Built-in Functions and Lists</vt:lpstr>
      <vt:lpstr>PowerPoint Presentation</vt:lpstr>
      <vt:lpstr>Best Friends: Strings and Lists</vt:lpstr>
      <vt:lpstr>PowerPoint Presentation</vt:lpstr>
      <vt:lpstr>PowerPoint Presentation</vt:lpstr>
      <vt:lpstr>The Double Split Pattern</vt:lpstr>
      <vt:lpstr>The Double Split Pattern</vt:lpstr>
      <vt:lpstr>The Double Split Pattern</vt:lpstr>
      <vt:lpstr>The Double Split Pattern</vt:lpstr>
      <vt:lpstr>List 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Lists</dc:title>
  <cp:lastModifiedBy>Lê Thị Hồng Nga</cp:lastModifiedBy>
  <cp:revision>57</cp:revision>
  <dcterms:modified xsi:type="dcterms:W3CDTF">2026-02-03T10:00:48Z</dcterms:modified>
</cp:coreProperties>
</file>