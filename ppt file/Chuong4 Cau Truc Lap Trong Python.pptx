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6" r:id="rId1"/>
  </p:sldMasterIdLst>
  <p:notesMasterIdLst>
    <p:notesMasterId r:id="rId34"/>
  </p:notesMasterIdLst>
  <p:sldIdLst>
    <p:sldId id="256" r:id="rId2"/>
    <p:sldId id="265" r:id="rId3"/>
    <p:sldId id="276" r:id="rId4"/>
    <p:sldId id="305" r:id="rId5"/>
    <p:sldId id="325" r:id="rId6"/>
    <p:sldId id="326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27" r:id="rId18"/>
    <p:sldId id="328" r:id="rId19"/>
    <p:sldId id="329" r:id="rId20"/>
    <p:sldId id="330" r:id="rId21"/>
    <p:sldId id="331" r:id="rId22"/>
    <p:sldId id="342" r:id="rId23"/>
    <p:sldId id="343" r:id="rId24"/>
    <p:sldId id="344" r:id="rId25"/>
    <p:sldId id="324" r:id="rId26"/>
    <p:sldId id="345" r:id="rId27"/>
    <p:sldId id="346" r:id="rId28"/>
    <p:sldId id="347" r:id="rId29"/>
    <p:sldId id="348" r:id="rId30"/>
    <p:sldId id="349" r:id="rId31"/>
    <p:sldId id="350" r:id="rId32"/>
    <p:sldId id="304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75203" autoAdjust="0"/>
  </p:normalViewPr>
  <p:slideViewPr>
    <p:cSldViewPr>
      <p:cViewPr>
        <p:scale>
          <a:sx n="95" d="100"/>
          <a:sy n="95" d="100"/>
        </p:scale>
        <p:origin x="1928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51BF50-0F84-441F-8386-03A4B72383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54E82-B9F2-416B-88D1-8A75A102582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A111E2F-E82A-430E-9357-CFD2047D2679}" type="datetimeFigureOut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55CE690-CCEF-4202-9203-E2C748629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6330005-79A3-42C9-823E-47967F984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CE974-FED9-49FB-BFDE-38F60DE930B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127394-4773-43EF-8D24-A43A9B4A4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6FF5448-A2F0-4A49-8EF3-5ABB5A8FD3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F4C21E2-4EE3-4B1A-B958-441156F62C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76F18D0-7082-4623-91FA-1EB5860F8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vi-VN" altLang="en-US"/>
          </a:p>
          <a:p>
            <a:endParaRPr lang="vi-VN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F2D825D5-84CA-4E5B-99F5-583AE73DF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BA90C7A-0D45-417D-95AF-F0FA8C8AB7FE}" type="slidenum">
              <a:rPr lang="en-US" altLang="en-US" smtClean="0">
                <a:latin typeface="Calibri" panose="020F0502020204030204" pitchFamily="34" charset="0"/>
              </a:rPr>
              <a:pPr/>
              <a:t>32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84579-C751-40AD-87A4-0938E7E4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7D5C9-F607-42AC-BCDA-50763776D168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CEDD1-A46D-4F12-AE83-63B85B47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D3E9D-09B7-423C-B88A-FE1B306A9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3BC8E-587B-4B4B-AD9C-66AB623D5F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0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EBDE9-5997-4292-8F05-87EC2D69F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0137F-940E-465E-85F2-3AA49F753A10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0929-7E83-47C8-9466-A1CE47AC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BDDD0-6D3D-4E57-9B05-3BEFE9C3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93F35B-A3D4-426F-8BCB-E3B812F5C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5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19EFAE-2926-4E5B-8E13-D190D243AD8A}"/>
              </a:ext>
            </a:extLst>
          </p:cNvPr>
          <p:cNvSpPr/>
          <p:nvPr/>
        </p:nvSpPr>
        <p:spPr>
          <a:xfrm>
            <a:off x="88900" y="2857500"/>
            <a:ext cx="8991600" cy="114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5C2CD9-C966-45BF-8676-D9B0BBFE4EEE}"/>
              </a:ext>
            </a:extLst>
          </p:cNvPr>
          <p:cNvSpPr/>
          <p:nvPr/>
        </p:nvSpPr>
        <p:spPr>
          <a:xfrm>
            <a:off x="88900" y="2952750"/>
            <a:ext cx="8991600" cy="57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219200"/>
            <a:ext cx="7772400" cy="1362075"/>
          </a:xfrm>
        </p:spPr>
        <p:txBody>
          <a:bodyPr anchor="t">
            <a:noAutofit/>
          </a:bodyPr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242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6404819-B724-434A-A7EA-03DA87AC2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82C5D-0BD7-44EB-87ED-C50CE7BCD64E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EADEE0A-49AB-4576-96FE-946EDD78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F667E9-C4C5-4F19-A7D9-C0A66447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43E24-F503-4A8D-972A-68D6B058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F15C03-10F8-44E4-ACC5-A33E27EF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212ADC-4BAD-42FC-9FCA-3B264F0878D5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50A899E-44E5-44F2-BE86-59D91DCD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0D59-1439-4885-A59F-14757165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52E12-AF2F-4418-ABAD-280DD74FB2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9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D8E59FF-926D-4CD4-85D3-42DAB89F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7AE71-2050-417C-85EB-57EAD9B6DFA2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A9A4FB8-5FD8-46F3-A0B6-967C0D8F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A8D685A-7EF8-49C1-9291-4DAD6B36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D525E-E15D-4696-BC9C-A12243BD8A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2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D84942F-42E3-4E6B-9EF5-B21495B1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DE09F-8A26-4D3C-ABF3-9AB43B971576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AC3168-E387-4C86-89AD-C6E81354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CBC0E79-28E3-4FE5-BBB7-1318CD5B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FC654-A73B-4C6B-8377-8213458D0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8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5300E6-8FDE-4287-99CA-110837F4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90D71-FC43-4727-8063-F4F29C38F712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2AD970-F2F4-4A95-908D-393194DB8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9F930A-3946-47F1-B465-96272EF5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EAE8-9718-4B03-B8BA-36F3B1712D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77F01E-916E-4182-B433-0B2F5FA94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E1534-A264-4242-848A-2514C7A1B74C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52AE20-60C6-40A7-9781-ADBC8994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0F2E3B-8379-4C8E-A627-FAE764FE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FA036C-1607-4B18-AEAA-5707C5D3E8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C91E8C-2128-4D73-8E77-64FFAB66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4AA1C-271B-4B39-912B-6CD323D3D2FE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E652DA-97F8-4D17-8918-63E7E74E9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0CDA65-6C32-4C34-9F02-27F08841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70039-5E34-44CB-998C-1319E5642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89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C58E6-D8D3-44EE-B37A-BF0B5BA4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65A6B-1B4E-4550-892E-88C6BABE978B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5DC0F-AAEB-4250-B5FE-E046378F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3DD26-1E72-4543-AD67-7DD7084A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4F007-3FC8-4AC9-8F98-65423296F3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36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F0848-A4CF-4B87-82E5-7B1F76A8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A2196-B5B2-4213-B887-8ED503E3F97C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8260-C6D3-403F-87CD-5FB84BC87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35503-ED1D-4078-AECF-AF30DD42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520AA-61C8-42F4-A7A2-5118B02E1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27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C75A5AF-41E8-4760-9637-D05802E287A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ACCED7B-1C98-4A49-BBCB-3A49B67F8D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4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BB0A1-DCD9-4396-A09A-B923D1915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37A46B3-1C96-4462-A216-097057D6FDF1}" type="datetime1">
              <a:rPr lang="en-US"/>
              <a:pPr>
                <a:defRPr/>
              </a:pPr>
              <a:t>9/20/25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92D3-1713-4B7C-8D41-BEFAB7B22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D0665-194C-46A0-A549-20DD4672683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D35470-FC79-4012-88FB-69780E57E307}"/>
              </a:ext>
            </a:extLst>
          </p:cNvPr>
          <p:cNvSpPr/>
          <p:nvPr/>
        </p:nvSpPr>
        <p:spPr>
          <a:xfrm>
            <a:off x="9067800" y="0"/>
            <a:ext cx="76200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183951-DA6D-451E-A6B5-8B93B6F0B1C9}"/>
              </a:ext>
            </a:extLst>
          </p:cNvPr>
          <p:cNvSpPr/>
          <p:nvPr/>
        </p:nvSpPr>
        <p:spPr>
          <a:xfrm>
            <a:off x="8597900" y="6337300"/>
            <a:ext cx="457200" cy="457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81974-A739-45C2-895C-DEDA8786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94713" y="6388100"/>
            <a:ext cx="685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69B84678-E314-4EEF-81AD-08CE6B2DA7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B4F334-6E3A-4DA7-AB09-8DF4309E7FDA}"/>
              </a:ext>
            </a:extLst>
          </p:cNvPr>
          <p:cNvCxnSpPr/>
          <p:nvPr/>
        </p:nvCxnSpPr>
        <p:spPr>
          <a:xfrm>
            <a:off x="762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105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06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v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Wingdings" panose="05000000000000000000" pitchFamily="2" charset="2"/>
        <a:buChar char="Ø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E46C0A"/>
        </a:buClr>
        <a:buFont typeface="Courier New" panose="02070309020205020404" pitchFamily="49" charset="0"/>
        <a:buChar char="o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2">
            <a:extLst>
              <a:ext uri="{FF2B5EF4-FFF2-40B4-BE49-F238E27FC236}">
                <a16:creationId xmlns:a16="http://schemas.microsoft.com/office/drawing/2014/main" id="{CBC2DA8F-B1CC-49CD-AD09-57A5370C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900B0F-EC9D-4EFA-B342-4DA1F0606C50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Title 3">
            <a:extLst>
              <a:ext uri="{FF2B5EF4-FFF2-40B4-BE49-F238E27FC236}">
                <a16:creationId xmlns:a16="http://schemas.microsoft.com/office/drawing/2014/main" id="{EB958B24-E593-4E71-96BA-1003C1A417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" y="2209800"/>
            <a:ext cx="8991600" cy="1447800"/>
          </a:xfrm>
        </p:spPr>
        <p:txBody>
          <a:bodyPr/>
          <a:lstStyle/>
          <a:p>
            <a:pPr eaLnBrk="1" hangingPunct="1"/>
            <a:r>
              <a:rPr lang="en-US" altLang="en-US" dirty="0"/>
              <a:t>CẤU TRÚC LẶP</a:t>
            </a:r>
          </a:p>
        </p:txBody>
      </p:sp>
      <p:sp>
        <p:nvSpPr>
          <p:cNvPr id="4100" name="Subtitle 2">
            <a:extLst>
              <a:ext uri="{FF2B5EF4-FFF2-40B4-BE49-F238E27FC236}">
                <a16:creationId xmlns:a16="http://schemas.microsoft.com/office/drawing/2014/main" id="{1A0963FC-5899-4DF6-B239-A7A0A88DF62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6200" y="6232525"/>
            <a:ext cx="7010400" cy="592138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en-US" sz="2800" dirty="0">
              <a:solidFill>
                <a:srgbClr val="254061"/>
              </a:solidFill>
            </a:endParaRPr>
          </a:p>
        </p:txBody>
      </p:sp>
      <p:pic>
        <p:nvPicPr>
          <p:cNvPr id="10" name="Picture 2" descr="Image result for python logo">
            <a:extLst>
              <a:ext uri="{FF2B5EF4-FFF2-40B4-BE49-F238E27FC236}">
                <a16:creationId xmlns:a16="http://schemas.microsoft.com/office/drawing/2014/main" id="{D1ED85FA-BF30-4C0C-B468-B9071C4792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t="11823" r="5229" b="21182"/>
          <a:stretch/>
        </p:blipFill>
        <p:spPr bwMode="auto">
          <a:xfrm>
            <a:off x="2476500" y="3984806"/>
            <a:ext cx="4191000" cy="114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35BAE241-8630-49BE-899C-8C8BAAA9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NỘI DUNG</a:t>
            </a:r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659DDBF3-6814-4332-BCCE-59D4CA883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47800"/>
            <a:ext cx="6781800" cy="48768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>
                <a:solidFill>
                  <a:srgbClr val="0070C0"/>
                </a:solidFill>
              </a:rPr>
              <a:t>Vòng lặp while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>
                <a:solidFill>
                  <a:srgbClr val="0070C0"/>
                </a:solidFill>
              </a:rPr>
              <a:t>Lệnh break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>
                <a:solidFill>
                  <a:srgbClr val="0070C0"/>
                </a:solidFill>
              </a:rPr>
              <a:t>Lệnh continue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>
                <a:solidFill>
                  <a:srgbClr val="0070C0"/>
                </a:solidFill>
              </a:rPr>
              <a:t>Vòng lặp for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>
                <a:solidFill>
                  <a:srgbClr val="0070C0"/>
                </a:solidFill>
              </a:rPr>
              <a:t>Vòng lặp lồng nhau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2800" b="1">
                <a:solidFill>
                  <a:srgbClr val="0070C0"/>
                </a:solidFill>
              </a:rPr>
              <a:t>Bài tập</a:t>
            </a: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>
              <a:solidFill>
                <a:srgbClr val="0070C0"/>
              </a:solidFill>
            </a:endParaRPr>
          </a:p>
          <a:p>
            <a:pPr marL="514350" indent="-514350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endParaRPr lang="en-US" sz="2800" b="1">
              <a:solidFill>
                <a:srgbClr val="0070C0"/>
              </a:solidFill>
            </a:endParaRPr>
          </a:p>
        </p:txBody>
      </p:sp>
      <p:sp>
        <p:nvSpPr>
          <p:cNvPr id="5124" name="Slide Number Placeholder 24">
            <a:extLst>
              <a:ext uri="{FF2B5EF4-FFF2-40B4-BE49-F238E27FC236}">
                <a16:creationId xmlns:a16="http://schemas.microsoft.com/office/drawing/2014/main" id="{5C96DF24-5F17-41D5-8068-06CDFF80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5FBF3B4-35B3-4638-8B43-91463F8D45E9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Image result for python logo">
            <a:extLst>
              <a:ext uri="{FF2B5EF4-FFF2-40B4-BE49-F238E27FC236}">
                <a16:creationId xmlns:a16="http://schemas.microsoft.com/office/drawing/2014/main" id="{6F313E3F-4AB2-470E-AE86-5D03F384A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2" t="11823" r="5229" b="21182"/>
          <a:stretch/>
        </p:blipFill>
        <p:spPr bwMode="auto">
          <a:xfrm>
            <a:off x="7525872" y="87569"/>
            <a:ext cx="1389528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Vòng lặp while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212" y="1051132"/>
            <a:ext cx="8534401" cy="1607726"/>
          </a:xfrm>
        </p:spPr>
        <p:txBody>
          <a:bodyPr/>
          <a:lstStyle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while dùng để thực hiện 1 công việc đ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ợc lặp đi lặp lại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Nếu 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là </a:t>
            </a:r>
            <a:r>
              <a:rPr lang="en-US" sz="28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thì 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sẽ đ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ợc lặp lại </a:t>
            </a:r>
          </a:p>
          <a:p>
            <a:pPr marL="0" indent="0" algn="just">
              <a:buNone/>
            </a:pPr>
            <a:r>
              <a:rPr lang="en-US" sz="2800" b="1" u="sng">
                <a:latin typeface="Cambria" panose="02040503050406030204" pitchFamily="18" charset="0"/>
              </a:rPr>
              <a:t>Cú pháp:</a:t>
            </a: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D002D-C65F-4C61-8DB4-3F52995A6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719387"/>
            <a:ext cx="2705100" cy="1419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74D64-2DEB-4434-8ECD-97B2417FF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2113186"/>
            <a:ext cx="3048000" cy="402012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80606B-A4CE-4213-9717-0A9D63EDD3DC}"/>
              </a:ext>
            </a:extLst>
          </p:cNvPr>
          <p:cNvSpPr txBox="1">
            <a:spLocks/>
          </p:cNvSpPr>
          <p:nvPr/>
        </p:nvSpPr>
        <p:spPr bwMode="auto">
          <a:xfrm>
            <a:off x="278631" y="4648200"/>
            <a:ext cx="5893569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v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Ø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Courier New" panose="02070309020205020404" pitchFamily="49" charset="0"/>
              <a:buChar char="o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" panose="05000000000000000000" pitchFamily="2" charset="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Có thể block sẽ không đ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ợc thực hiện lần nào nếu condition là False ngày từ đầu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- Ta có thể kết thúc vòng while bằng cách đ</a:t>
            </a:r>
            <a:r>
              <a:rPr lang="vi-VN" sz="24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condition về False hoặc dùng từ khóa 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để thoát.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Vòng lặp while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534399" cy="3581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#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Ví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dụ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: In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các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số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từ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1 </a:t>
            </a:r>
            <a:r>
              <a:rPr lang="en-US" sz="28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đến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n-NO" dirty="0"/>
              <a:t>i = 1</a:t>
            </a:r>
            <a:br>
              <a:rPr lang="nn-NO" sz="2800" dirty="0"/>
            </a:br>
            <a:r>
              <a:rPr lang="nn-NO" dirty="0" err="1">
                <a:solidFill>
                  <a:srgbClr val="002060"/>
                </a:solidFill>
              </a:rPr>
              <a:t>while</a:t>
            </a:r>
            <a:r>
              <a:rPr lang="nn-NO" dirty="0"/>
              <a:t> i &lt; 10:</a:t>
            </a:r>
            <a:br>
              <a:rPr lang="nn-NO" sz="2800" dirty="0"/>
            </a:br>
            <a:r>
              <a:rPr lang="nn-NO" dirty="0"/>
              <a:t>	</a:t>
            </a:r>
            <a:r>
              <a:rPr lang="nn-NO" dirty="0" err="1">
                <a:solidFill>
                  <a:srgbClr val="002060"/>
                </a:solidFill>
              </a:rPr>
              <a:t>print</a:t>
            </a:r>
            <a:r>
              <a:rPr lang="nn-NO" dirty="0"/>
              <a:t>(i)</a:t>
            </a:r>
            <a:br>
              <a:rPr lang="nn-NO" sz="2800" dirty="0"/>
            </a:br>
            <a:r>
              <a:rPr lang="nn-NO" dirty="0"/>
              <a:t>	i += 1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5159BD-D209-4552-BF08-04A2E50B7E22}"/>
              </a:ext>
            </a:extLst>
          </p:cNvPr>
          <p:cNvSpPr/>
          <p:nvPr/>
        </p:nvSpPr>
        <p:spPr>
          <a:xfrm>
            <a:off x="314633" y="5578475"/>
            <a:ext cx="8180080" cy="587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 b="1">
                <a:solidFill>
                  <a:schemeClr val="accent6">
                    <a:lumMod val="75000"/>
                  </a:schemeClr>
                </a:solidFill>
                <a:latin typeface="+mj-lt"/>
              </a:rPr>
              <a:t>Lưu ý:</a:t>
            </a:r>
            <a:r>
              <a:rPr lang="vi-VN" sz="2400">
                <a:latin typeface="+mj-lt"/>
              </a:rPr>
              <a:t> nhớ để tăng i, nếu không vòng lặp sẽ tiếp tục mãi mãi.</a:t>
            </a:r>
            <a:endParaRPr lang="en-US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494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Vòng lặp while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534399" cy="35814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u="sng">
                <a:latin typeface="Cambria" panose="02040503050406030204" pitchFamily="18" charset="0"/>
              </a:rPr>
              <a:t>Ví dụ: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Viết ch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ơng trình yêu cầu nhập vào một số nguyên d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ơng [1..10], nếu nhập sai yêu cầu nhập lại. Khi nhập đúng thì xuất ra bình ph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ơng của giá trị mới nhập vào.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AEC73-7AC8-4284-AFC0-537AD0E6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4" y="3733800"/>
            <a:ext cx="889607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01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Vòng lặp while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09BA6-4BF4-44F1-A9F2-F4115B5779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192" r="15987"/>
          <a:stretch/>
        </p:blipFill>
        <p:spPr>
          <a:xfrm>
            <a:off x="152401" y="1066800"/>
            <a:ext cx="3352800" cy="38447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1F1E39-D1AD-43EF-8C83-0C428FC404A3}"/>
              </a:ext>
            </a:extLst>
          </p:cNvPr>
          <p:cNvSpPr txBox="1"/>
          <p:nvPr/>
        </p:nvSpPr>
        <p:spPr>
          <a:xfrm>
            <a:off x="3733800" y="914400"/>
            <a:ext cx="5314275" cy="5816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>
                <a:solidFill>
                  <a:srgbClr val="002060"/>
                </a:solidFill>
              </a:rPr>
              <a:t>Khởi tạo: s=0, i=1, n=5</a:t>
            </a:r>
          </a:p>
          <a:p>
            <a:pPr marL="514350" indent="-514350">
              <a:spcBef>
                <a:spcPts val="600"/>
              </a:spcBef>
              <a:buAutoNum type="arabicParenR"/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</a:rPr>
              <a:t>i&lt;=n </a:t>
            </a:r>
            <a:r>
              <a:rPr lang="en-US" sz="240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1 &lt;=5True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chemeClr val="accent6">
                    <a:lumMod val="50000"/>
                  </a:schemeClr>
                </a:solidFill>
                <a:sym typeface="Wingdings" panose="05000000000000000000" pitchFamily="2" charset="2"/>
              </a:rPr>
              <a:t>        s=s+i=0+1=1; i=i+1=1+1=2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rgbClr val="7030A0"/>
                </a:solidFill>
                <a:sym typeface="Wingdings" panose="05000000000000000000" pitchFamily="2" charset="2"/>
              </a:rPr>
              <a:t>2) i&lt;=n  2 &lt;=5 True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rgbClr val="7030A0"/>
                </a:solidFill>
                <a:sym typeface="Wingdings" panose="05000000000000000000" pitchFamily="2" charset="2"/>
              </a:rPr>
              <a:t>        s=s+i=1+2=3; i=i+1=2+1=3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3) i&lt;=n 3 &lt;=5True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rgbClr val="C00000"/>
                </a:solidFill>
                <a:sym typeface="Wingdings" panose="05000000000000000000" pitchFamily="2" charset="2"/>
              </a:rPr>
              <a:t>        s=s+i=3+3=6; i=i+1=3+1=4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chemeClr val="tx2"/>
                </a:solidFill>
                <a:sym typeface="Wingdings" panose="05000000000000000000" pitchFamily="2" charset="2"/>
              </a:rPr>
              <a:t>4) i &lt;=n 4 &lt;=5True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chemeClr val="tx2"/>
                </a:solidFill>
                <a:sym typeface="Wingdings" panose="05000000000000000000" pitchFamily="2" charset="2"/>
              </a:rPr>
              <a:t>       s=s+i=6 +4=10; i=i+1=4+1=5</a:t>
            </a:r>
          </a:p>
          <a:p>
            <a:pPr>
              <a:spcBef>
                <a:spcPts val="600"/>
              </a:spcBef>
            </a:pPr>
            <a:r>
              <a:rPr lang="en-US" sz="2400">
                <a:sym typeface="Wingdings" panose="05000000000000000000" pitchFamily="2" charset="2"/>
              </a:rPr>
              <a:t>5)i&lt;=n 5&lt;=5True</a:t>
            </a:r>
          </a:p>
          <a:p>
            <a:pPr>
              <a:spcBef>
                <a:spcPts val="600"/>
              </a:spcBef>
            </a:pPr>
            <a:r>
              <a:rPr lang="en-US" sz="2400">
                <a:sym typeface="Wingdings" panose="05000000000000000000" pitchFamily="2" charset="2"/>
              </a:rPr>
              <a:t>       s=s+i=10+5=</a:t>
            </a:r>
            <a:r>
              <a:rPr lang="en-US" sz="2400">
                <a:solidFill>
                  <a:srgbClr val="FF0000"/>
                </a:solidFill>
                <a:sym typeface="Wingdings" panose="05000000000000000000" pitchFamily="2" charset="2"/>
              </a:rPr>
              <a:t>15</a:t>
            </a:r>
            <a:r>
              <a:rPr lang="en-US" sz="2400">
                <a:sym typeface="Wingdings" panose="05000000000000000000" pitchFamily="2" charset="2"/>
              </a:rPr>
              <a:t>; i=i+1=5+1=6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rgbClr val="00B050"/>
                </a:solidFill>
                <a:sym typeface="Wingdings" panose="05000000000000000000" pitchFamily="2" charset="2"/>
              </a:rPr>
              <a:t>6) i&lt;=n 6 &lt;=5FalseDừng while</a:t>
            </a:r>
          </a:p>
          <a:p>
            <a:pPr>
              <a:spcBef>
                <a:spcPts val="600"/>
              </a:spcBef>
            </a:pPr>
            <a:r>
              <a:rPr lang="en-US" sz="2400" b="1">
                <a:solidFill>
                  <a:schemeClr val="tx2"/>
                </a:solidFill>
                <a:sym typeface="Wingdings" panose="05000000000000000000" pitchFamily="2" charset="2"/>
              </a:rPr>
              <a:t>xuất tổng = 15</a:t>
            </a:r>
            <a:endParaRPr lang="en-US" sz="24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27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Lệnh while...else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534399" cy="53975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dirty="0">
                <a:latin typeface="Cambria" panose="02040503050406030204" pitchFamily="18" charset="0"/>
              </a:rPr>
              <a:t>Python </a:t>
            </a:r>
            <a:r>
              <a:rPr lang="en-US" sz="2800" dirty="0" err="1">
                <a:latin typeface="Cambria" panose="02040503050406030204" pitchFamily="18" charset="0"/>
              </a:rPr>
              <a:t>hỗ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trợ</a:t>
            </a:r>
            <a:r>
              <a:rPr lang="en-US" sz="2800" dirty="0">
                <a:latin typeface="Cambria" panose="02040503050406030204" pitchFamily="18" charset="0"/>
              </a:rPr>
              <a:t> else block </a:t>
            </a:r>
            <a:r>
              <a:rPr lang="en-US" sz="2800" dirty="0" err="1">
                <a:latin typeface="Cambria" panose="02040503050406030204" pitchFamily="18" charset="0"/>
              </a:rPr>
              <a:t>trong</a:t>
            </a:r>
            <a:r>
              <a:rPr lang="en-US" sz="2800" dirty="0">
                <a:latin typeface="Cambria" panose="02040503050406030204" pitchFamily="18" charset="0"/>
              </a:rPr>
              <a:t> tr</a:t>
            </a:r>
            <a:r>
              <a:rPr lang="vi-VN" sz="2800" dirty="0">
                <a:latin typeface="Cambria" panose="02040503050406030204" pitchFamily="18" charset="0"/>
              </a:rPr>
              <a:t>ư</a:t>
            </a:r>
            <a:r>
              <a:rPr lang="en-US" sz="2800" dirty="0" err="1">
                <a:latin typeface="Cambria" panose="02040503050406030204" pitchFamily="18" charset="0"/>
              </a:rPr>
              <a:t>ờng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hợp</a:t>
            </a:r>
            <a:r>
              <a:rPr lang="en-US" sz="2800" dirty="0">
                <a:latin typeface="Cambria" panose="02040503050406030204" pitchFamily="18" charset="0"/>
              </a:rPr>
              <a:t> while </a:t>
            </a:r>
            <a:r>
              <a:rPr lang="en-US" sz="2800" dirty="0" err="1">
                <a:latin typeface="Cambria" panose="02040503050406030204" pitchFamily="18" charset="0"/>
              </a:rPr>
              <a:t>kết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thúc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một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cách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bình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</a:t>
            </a:r>
            <a:r>
              <a:rPr lang="vi-VN" sz="2800" dirty="0">
                <a:latin typeface="Cambria" panose="02040503050406030204" pitchFamily="18" charset="0"/>
              </a:rPr>
              <a:t>ư</a:t>
            </a:r>
            <a:r>
              <a:rPr lang="en-US" sz="2800" dirty="0" err="1">
                <a:latin typeface="Cambria" panose="02040503050406030204" pitchFamily="18" charset="0"/>
              </a:rPr>
              <a:t>ờng</a:t>
            </a:r>
            <a:r>
              <a:rPr lang="en-US" sz="2800" dirty="0">
                <a:latin typeface="Cambria" panose="02040503050406030204" pitchFamily="18" charset="0"/>
              </a:rPr>
              <a:t> (</a:t>
            </a:r>
            <a:r>
              <a:rPr lang="en-US" sz="2800" dirty="0" err="1">
                <a:latin typeface="Cambria" panose="02040503050406030204" pitchFamily="18" charset="0"/>
              </a:rPr>
              <a:t>tức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là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không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phải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dùng</a:t>
            </a:r>
            <a:r>
              <a:rPr lang="en-US" sz="2800" dirty="0">
                <a:latin typeface="Cambria" panose="02040503050406030204" pitchFamily="18" charset="0"/>
              </a:rPr>
              <a:t> break </a:t>
            </a:r>
            <a:r>
              <a:rPr lang="en-US" sz="2800" dirty="0" err="1">
                <a:latin typeface="Cambria" panose="02040503050406030204" pitchFamily="18" charset="0"/>
              </a:rPr>
              <a:t>để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kết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thúc</a:t>
            </a:r>
            <a:r>
              <a:rPr lang="en-US" sz="2800" dirty="0">
                <a:latin typeface="Cambria" panose="02040503050406030204" pitchFamily="18" charset="0"/>
              </a:rPr>
              <a:t>)</a:t>
            </a:r>
          </a:p>
          <a:p>
            <a:pPr marL="1257300" lvl="3" indent="0" algn="just">
              <a:buNone/>
            </a:pPr>
            <a:endParaRPr lang="en-US" sz="28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dirty="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 dirty="0" err="1">
                <a:latin typeface="Cambria" panose="02040503050406030204" pitchFamily="18" charset="0"/>
              </a:rPr>
              <a:t>Nếu</a:t>
            </a:r>
            <a:r>
              <a:rPr lang="en-US" sz="2800" dirty="0">
                <a:latin typeface="Cambria" panose="02040503050406030204" pitchFamily="18" charset="0"/>
              </a:rPr>
              <a:t> while </a:t>
            </a:r>
            <a:r>
              <a:rPr lang="en-US" sz="2800" dirty="0" err="1">
                <a:latin typeface="Cambria" panose="02040503050406030204" pitchFamily="18" charset="0"/>
              </a:rPr>
              <a:t>kết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thúc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một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cách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bình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</a:t>
            </a:r>
            <a:r>
              <a:rPr lang="vi-VN" sz="2800" dirty="0">
                <a:latin typeface="Cambria" panose="02040503050406030204" pitchFamily="18" charset="0"/>
              </a:rPr>
              <a:t>ư</a:t>
            </a:r>
            <a:r>
              <a:rPr lang="en-US" sz="2800" dirty="0" err="1">
                <a:latin typeface="Cambria" panose="02040503050406030204" pitchFamily="18" charset="0"/>
              </a:rPr>
              <a:t>ờng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thì</a:t>
            </a:r>
            <a:r>
              <a:rPr lang="en-US" sz="2800" dirty="0">
                <a:latin typeface="Cambria" panose="02040503050406030204" pitchFamily="18" charset="0"/>
              </a:rPr>
              <a:t> else-block </a:t>
            </a:r>
            <a:r>
              <a:rPr lang="en-US" sz="2800" dirty="0" err="1">
                <a:latin typeface="Cambria" panose="02040503050406030204" pitchFamily="18" charset="0"/>
              </a:rPr>
              <a:t>sẽ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tự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động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đ</a:t>
            </a:r>
            <a:r>
              <a:rPr lang="vi-VN" sz="2800" dirty="0">
                <a:latin typeface="Cambria" panose="02040503050406030204" pitchFamily="18" charset="0"/>
              </a:rPr>
              <a:t>ư</a:t>
            </a:r>
            <a:r>
              <a:rPr lang="en-US" sz="2800" dirty="0" err="1">
                <a:latin typeface="Cambria" panose="02040503050406030204" pitchFamily="18" charset="0"/>
              </a:rPr>
              <a:t>ợc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thực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hiện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ngay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sau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đó</a:t>
            </a:r>
            <a:r>
              <a:rPr lang="en-US" sz="2800" dirty="0"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35A70-CC60-4A0E-928A-0CEDB28972AB}"/>
              </a:ext>
            </a:extLst>
          </p:cNvPr>
          <p:cNvSpPr/>
          <p:nvPr/>
        </p:nvSpPr>
        <p:spPr>
          <a:xfrm>
            <a:off x="1981200" y="2590800"/>
            <a:ext cx="5410200" cy="2062103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1257300" lvl="3" indent="0" algn="just">
              <a:buNone/>
            </a:pPr>
            <a:r>
              <a:rPr lang="en-US" sz="3200" dirty="0">
                <a:solidFill>
                  <a:srgbClr val="7030A0"/>
                </a:solidFill>
                <a:latin typeface="Cambria" panose="02040503050406030204" pitchFamily="18" charset="0"/>
              </a:rPr>
              <a:t>while</a:t>
            </a:r>
            <a:r>
              <a:rPr lang="en-US" sz="3200" dirty="0">
                <a:latin typeface="Cambria" panose="020405030504060302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mbria" panose="02040503050406030204" pitchFamily="18" charset="0"/>
              </a:rPr>
              <a:t>condition</a:t>
            </a:r>
            <a:r>
              <a:rPr lang="en-US" sz="3200" dirty="0">
                <a:latin typeface="Cambria" panose="02040503050406030204" pitchFamily="18" charset="0"/>
              </a:rPr>
              <a:t>:</a:t>
            </a:r>
          </a:p>
          <a:p>
            <a:pPr marL="1257300" lvl="3" indent="0" algn="just">
              <a:buNone/>
            </a:pPr>
            <a:r>
              <a:rPr lang="en-US" sz="3200" dirty="0">
                <a:latin typeface="Cambria" panose="02040503050406030204" pitchFamily="18" charset="0"/>
              </a:rPr>
              <a:t> 	while-block</a:t>
            </a:r>
          </a:p>
          <a:p>
            <a:pPr marL="1257300" lvl="3" indent="0" algn="just">
              <a:buNone/>
            </a:pPr>
            <a:r>
              <a:rPr lang="en-US" sz="3200" dirty="0">
                <a:solidFill>
                  <a:srgbClr val="7030A0"/>
                </a:solidFill>
                <a:latin typeface="Cambria" panose="02040503050406030204" pitchFamily="18" charset="0"/>
              </a:rPr>
              <a:t>else</a:t>
            </a:r>
            <a:r>
              <a:rPr lang="en-US" sz="3200" dirty="0">
                <a:latin typeface="Cambria" panose="02040503050406030204" pitchFamily="18" charset="0"/>
              </a:rPr>
              <a:t>:</a:t>
            </a:r>
          </a:p>
          <a:p>
            <a:pPr marL="1714500" lvl="4" algn="just"/>
            <a:r>
              <a:rPr lang="en-US" sz="3200" dirty="0">
                <a:latin typeface="Cambria" panose="02040503050406030204" pitchFamily="18" charset="0"/>
              </a:rPr>
              <a:t> else-block</a:t>
            </a:r>
          </a:p>
        </p:txBody>
      </p:sp>
    </p:spTree>
    <p:extLst>
      <p:ext uri="{BB962C8B-B14F-4D97-AF65-F5344CB8AC3E}">
        <p14:creationId xmlns:p14="http://schemas.microsoft.com/office/powerpoint/2010/main" val="3809224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marL="514350" indent="-514350"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  <a:buFont typeface="+mj-lt"/>
              <a:buAutoNum type="arabicPeriod"/>
            </a:pPr>
            <a:r>
              <a:rPr lang="en-US" sz="3200">
                <a:solidFill>
                  <a:srgbClr val="0070C0"/>
                </a:solidFill>
              </a:rPr>
              <a:t>Lệnh while...else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F5D41D-145A-4BF4-9EAC-EB7776A35229}"/>
              </a:ext>
            </a:extLst>
          </p:cNvPr>
          <p:cNvSpPr txBox="1">
            <a:spLocks/>
          </p:cNvSpPr>
          <p:nvPr/>
        </p:nvSpPr>
        <p:spPr bwMode="auto">
          <a:xfrm>
            <a:off x="762000" y="1104900"/>
            <a:ext cx="5572432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v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Ø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Courier New" panose="02070309020205020404" pitchFamily="49" charset="0"/>
              <a:buChar char="o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#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Ví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dụ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: In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các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số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từ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0 </a:t>
            </a:r>
            <a:r>
              <a:rPr lang="en-US" sz="2800" b="1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đến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9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nn-NO" dirty="0"/>
              <a:t>i = 0</a:t>
            </a:r>
            <a:br>
              <a:rPr lang="nn-NO" sz="2800" dirty="0"/>
            </a:br>
            <a:r>
              <a:rPr lang="nn-NO" dirty="0" err="1">
                <a:solidFill>
                  <a:srgbClr val="002060"/>
                </a:solidFill>
              </a:rPr>
              <a:t>while</a:t>
            </a:r>
            <a:r>
              <a:rPr lang="nn-NO" dirty="0"/>
              <a:t> i &lt; 10:</a:t>
            </a:r>
            <a:br>
              <a:rPr lang="nn-NO" sz="2800" dirty="0"/>
            </a:br>
            <a:r>
              <a:rPr lang="nn-NO" dirty="0"/>
              <a:t>	</a:t>
            </a:r>
            <a:r>
              <a:rPr lang="nn-NO" dirty="0" err="1">
                <a:solidFill>
                  <a:srgbClr val="002060"/>
                </a:solidFill>
              </a:rPr>
              <a:t>print</a:t>
            </a:r>
            <a:r>
              <a:rPr lang="nn-NO" dirty="0"/>
              <a:t>(i)</a:t>
            </a:r>
            <a:br>
              <a:rPr lang="nn-NO" sz="2800" dirty="0"/>
            </a:br>
            <a:r>
              <a:rPr lang="nn-NO" dirty="0"/>
              <a:t>	i += 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2060"/>
                </a:solidFill>
              </a:rPr>
              <a:t>else: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2060"/>
                </a:solidFill>
              </a:rPr>
              <a:t>print</a:t>
            </a:r>
            <a:r>
              <a:rPr lang="en-US" dirty="0"/>
              <a:t>(“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bé</a:t>
            </a:r>
            <a:r>
              <a:rPr lang="en-US" dirty="0"/>
              <a:t> h</a:t>
            </a:r>
            <a:r>
              <a:rPr lang="vi-VN" dirty="0"/>
              <a:t>ơ</a:t>
            </a:r>
            <a:r>
              <a:rPr lang="en-US" dirty="0"/>
              <a:t>n 10")</a:t>
            </a: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62681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372170" cy="56388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for</a:t>
            </a:r>
            <a:r>
              <a:rPr lang="en-US" sz="2800">
                <a:latin typeface="Cambria" panose="02040503050406030204" pitchFamily="18" charset="0"/>
              </a:rPr>
              <a:t> dùng để lặp tuần tự các công việc, </a:t>
            </a: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for</a:t>
            </a:r>
            <a:r>
              <a:rPr lang="en-US" sz="2800">
                <a:latin typeface="Cambria" panose="02040503050406030204" pitchFamily="18" charset="0"/>
              </a:rPr>
              <a:t> sử dụng </a:t>
            </a: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range</a:t>
            </a:r>
            <a:r>
              <a:rPr lang="en-US" sz="280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sz="2800">
                <a:latin typeface="Cambria" panose="02040503050406030204" pitchFamily="18" charset="0"/>
              </a:rPr>
              <a:t>để định nghĩa vùng dữ liệu lặp và b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ớc lặp.</a:t>
            </a:r>
          </a:p>
          <a:p>
            <a:pPr marL="0" indent="0" algn="just">
              <a:buNone/>
            </a:pPr>
            <a:endParaRPr lang="en-US" sz="2800" b="1" u="sng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Cú pháp hàm </a:t>
            </a: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range</a:t>
            </a:r>
            <a:r>
              <a:rPr lang="en-US" sz="2800">
                <a:latin typeface="Cambria" panose="02040503050406030204" pitchFamily="18" charset="0"/>
              </a:rPr>
              <a:t>:</a:t>
            </a:r>
          </a:p>
          <a:p>
            <a:pPr marL="0" indent="0" algn="just">
              <a:buNone/>
            </a:pPr>
            <a:endParaRPr lang="en-US" sz="2800" b="1" u="sng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 b="1" u="sng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begin: Giá trị bắt đầu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end: Giá trị cuối</a:t>
            </a: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step: B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ớc nhảy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E9B0A-C33A-4B04-B01B-71CCD18F3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973" y="3505200"/>
            <a:ext cx="4940968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0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90600"/>
            <a:ext cx="8271387" cy="56388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#Ví dụ cách hoạt động của range: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range(10) 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800">
                <a:latin typeface="Cambria" panose="02040503050406030204" pitchFamily="18" charset="0"/>
              </a:rPr>
              <a:t> 0; 1; 2; 3; 4; 5; 6; 7; 8; 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range(1, 10) 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800">
                <a:latin typeface="Cambria" panose="02040503050406030204" pitchFamily="18" charset="0"/>
              </a:rPr>
              <a:t> 1; 2; 3; 4; 5; 6; 7; 8; 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range(1, 10, 2) 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800">
                <a:latin typeface="Cambria" panose="02040503050406030204" pitchFamily="18" charset="0"/>
              </a:rPr>
              <a:t> 1; 3; 5; 7; 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range(10, 0, -1) 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800">
                <a:latin typeface="Cambria" panose="02040503050406030204" pitchFamily="18" charset="0"/>
              </a:rPr>
              <a:t> 10; 9; 8; 7; 6; 5; 4; 3; 2; 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range(10, 0, -2) 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800">
                <a:latin typeface="Cambria" panose="02040503050406030204" pitchFamily="18" charset="0"/>
              </a:rPr>
              <a:t> 10; 8; 6; 4; 2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range(2, 11, 2) 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</a:t>
            </a:r>
            <a:r>
              <a:rPr lang="en-US" sz="2800">
                <a:latin typeface="Cambria" panose="02040503050406030204" pitchFamily="18" charset="0"/>
              </a:rPr>
              <a:t> 2; 4; 6; 8; 10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0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90600"/>
            <a:ext cx="3581401" cy="914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#Các ví dụ for: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267917-7688-433A-A412-410C4B8C6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68267"/>
            <a:ext cx="4996017" cy="46307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(n,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 ‘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(n,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‘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</a:pP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(n,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8C34D3-656A-4982-B633-6690ABB809E9}"/>
              </a:ext>
            </a:extLst>
          </p:cNvPr>
          <p:cNvGrpSpPr/>
          <p:nvPr/>
        </p:nvGrpSpPr>
        <p:grpSpPr>
          <a:xfrm>
            <a:off x="4191000" y="2286000"/>
            <a:ext cx="4005805" cy="523220"/>
            <a:chOff x="4353231" y="1767871"/>
            <a:chExt cx="4005805" cy="52322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1B7635-F7BB-4F63-95AB-87E8734120F4}"/>
                </a:ext>
              </a:extLst>
            </p:cNvPr>
            <p:cNvSpPr/>
            <p:nvPr/>
          </p:nvSpPr>
          <p:spPr>
            <a:xfrm>
              <a:off x="5529415" y="1767871"/>
              <a:ext cx="282962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/>
                <a:t>0 1 2 3 4 5 6 7 8 9 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1C4F78A-0037-43D1-88B1-1F8E258C2EF7}"/>
                </a:ext>
              </a:extLst>
            </p:cNvPr>
            <p:cNvCxnSpPr/>
            <p:nvPr/>
          </p:nvCxnSpPr>
          <p:spPr>
            <a:xfrm>
              <a:off x="4353231" y="2057400"/>
              <a:ext cx="1133170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98A6E16-9DCD-4033-A9E8-91D1C2E5FD87}"/>
              </a:ext>
            </a:extLst>
          </p:cNvPr>
          <p:cNvGrpSpPr/>
          <p:nvPr/>
        </p:nvGrpSpPr>
        <p:grpSpPr>
          <a:xfrm>
            <a:off x="4402116" y="4048781"/>
            <a:ext cx="3626481" cy="523220"/>
            <a:chOff x="4402116" y="4048781"/>
            <a:chExt cx="3626481" cy="52322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C2CB1C-A8E2-4BE3-9BA8-0F3792E32A89}"/>
                </a:ext>
              </a:extLst>
            </p:cNvPr>
            <p:cNvCxnSpPr/>
            <p:nvPr/>
          </p:nvCxnSpPr>
          <p:spPr>
            <a:xfrm>
              <a:off x="4402116" y="4340856"/>
              <a:ext cx="1133170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48AE5-C2D0-4ACE-962B-210C8FE3CED8}"/>
                </a:ext>
              </a:extLst>
            </p:cNvPr>
            <p:cNvSpPr/>
            <p:nvPr/>
          </p:nvSpPr>
          <p:spPr>
            <a:xfrm>
              <a:off x="5545225" y="4048781"/>
              <a:ext cx="248337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/>
                <a:t>1 2 3 4 5 6 7 8 9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9F6107-315C-46B3-9F7A-9A335B7257B2}"/>
              </a:ext>
            </a:extLst>
          </p:cNvPr>
          <p:cNvGrpSpPr/>
          <p:nvPr/>
        </p:nvGrpSpPr>
        <p:grpSpPr>
          <a:xfrm>
            <a:off x="4700870" y="5811562"/>
            <a:ext cx="2648157" cy="523220"/>
            <a:chOff x="4926739" y="5814020"/>
            <a:chExt cx="2648157" cy="52322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8C7DDDA-B29F-4EB4-B2F1-644C9B317304}"/>
                </a:ext>
              </a:extLst>
            </p:cNvPr>
            <p:cNvCxnSpPr/>
            <p:nvPr/>
          </p:nvCxnSpPr>
          <p:spPr>
            <a:xfrm>
              <a:off x="4926739" y="6102472"/>
              <a:ext cx="1133170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82ECD5-4C22-4BF4-9129-7544D4F0DE2F}"/>
                </a:ext>
              </a:extLst>
            </p:cNvPr>
            <p:cNvSpPr/>
            <p:nvPr/>
          </p:nvSpPr>
          <p:spPr>
            <a:xfrm>
              <a:off x="6067752" y="5814020"/>
              <a:ext cx="150714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/>
                <a:t>1 3 5 7 9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769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14400"/>
            <a:ext cx="3581401" cy="914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#Các ví dụ for: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267917-7688-433A-A412-410C4B8C6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752600"/>
            <a:ext cx="4996017" cy="46307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en-US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altLang="en-US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altLang="en-US" sz="240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,-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</a:t>
            </a:r>
            <a:r>
              <a:rPr lang="en-US" altLang="en-US" sz="2400">
                <a:solidFill>
                  <a:srgbClr val="66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‘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b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altLang="en-US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altLang="en-US" sz="240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,-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</a:t>
            </a:r>
            <a:r>
              <a:rPr lang="en-US" altLang="en-US" sz="2400">
                <a:solidFill>
                  <a:srgbClr val="66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‘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>
              <a:lnSpc>
                <a:spcPct val="150000"/>
              </a:lnSpc>
              <a:spcBef>
                <a:spcPts val="600"/>
              </a:spcBef>
            </a:pPr>
            <a:b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en-US" altLang="en-US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altLang="en-US" sz="240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sz="240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40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</a:t>
            </a:r>
            <a:r>
              <a:rPr lang="en-US" altLang="en-US" sz="2400">
                <a:solidFill>
                  <a:srgbClr val="66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4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'</a:t>
            </a:r>
            <a:r>
              <a:rPr lang="en-US" altLang="en-US" sz="240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C161BD-29D7-4520-A04B-E3F3287651EA}"/>
              </a:ext>
            </a:extLst>
          </p:cNvPr>
          <p:cNvGrpSpPr/>
          <p:nvPr/>
        </p:nvGrpSpPr>
        <p:grpSpPr>
          <a:xfrm>
            <a:off x="4710797" y="2209800"/>
            <a:ext cx="4168966" cy="523220"/>
            <a:chOff x="4710797" y="2209800"/>
            <a:chExt cx="4168966" cy="52322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6E9CA4-2962-4F0B-8AF4-184779BBBCBA}"/>
                </a:ext>
              </a:extLst>
            </p:cNvPr>
            <p:cNvCxnSpPr/>
            <p:nvPr/>
          </p:nvCxnSpPr>
          <p:spPr>
            <a:xfrm>
              <a:off x="4710797" y="2486629"/>
              <a:ext cx="1133170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9F84B4-69B8-48F3-A62F-8B6D003E5F3D}"/>
                </a:ext>
              </a:extLst>
            </p:cNvPr>
            <p:cNvSpPr/>
            <p:nvPr/>
          </p:nvSpPr>
          <p:spPr>
            <a:xfrm>
              <a:off x="5867400" y="2209800"/>
              <a:ext cx="301236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/>
                <a:t>10 9 8 7 6 5 4 3 2 1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48231BF-E8F3-46FD-A456-DD7A2BB25F3B}"/>
              </a:ext>
            </a:extLst>
          </p:cNvPr>
          <p:cNvGrpSpPr/>
          <p:nvPr/>
        </p:nvGrpSpPr>
        <p:grpSpPr>
          <a:xfrm>
            <a:off x="4928255" y="3863371"/>
            <a:ext cx="2823056" cy="523220"/>
            <a:chOff x="4928255" y="3863371"/>
            <a:chExt cx="2823056" cy="523220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70676DC-113D-4DB4-BB86-1686198C39BF}"/>
                </a:ext>
              </a:extLst>
            </p:cNvPr>
            <p:cNvCxnSpPr/>
            <p:nvPr/>
          </p:nvCxnSpPr>
          <p:spPr>
            <a:xfrm>
              <a:off x="4928255" y="4128577"/>
              <a:ext cx="1133170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42ECA3-4AD0-404C-9DF4-E0BBE82AD711}"/>
                </a:ext>
              </a:extLst>
            </p:cNvPr>
            <p:cNvSpPr/>
            <p:nvPr/>
          </p:nvSpPr>
          <p:spPr>
            <a:xfrm>
              <a:off x="6061425" y="3863371"/>
              <a:ext cx="168988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/>
                <a:t>10 8 6 4 2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48AF4EA-8992-4A37-B7E0-2586FE0AF7C9}"/>
              </a:ext>
            </a:extLst>
          </p:cNvPr>
          <p:cNvGrpSpPr/>
          <p:nvPr/>
        </p:nvGrpSpPr>
        <p:grpSpPr>
          <a:xfrm>
            <a:off x="4848288" y="5572780"/>
            <a:ext cx="2804064" cy="523220"/>
            <a:chOff x="4848288" y="5554677"/>
            <a:chExt cx="2804064" cy="52322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7F1BD38-CED6-4F51-BCB9-CF8A0590DCBD}"/>
                </a:ext>
              </a:extLst>
            </p:cNvPr>
            <p:cNvCxnSpPr/>
            <p:nvPr/>
          </p:nvCxnSpPr>
          <p:spPr>
            <a:xfrm>
              <a:off x="4848288" y="5803007"/>
              <a:ext cx="1133170" cy="0"/>
            </a:xfrm>
            <a:prstGeom prst="straightConnector1">
              <a:avLst/>
            </a:prstGeom>
            <a:ln w="571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83CAA0-D213-4873-B9BC-EBF2CC9151D1}"/>
                </a:ext>
              </a:extLst>
            </p:cNvPr>
            <p:cNvSpPr/>
            <p:nvPr/>
          </p:nvSpPr>
          <p:spPr>
            <a:xfrm>
              <a:off x="6044219" y="5554677"/>
              <a:ext cx="160813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/>
                <a:t>2 4 6 8 10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414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14400"/>
            <a:ext cx="3581401" cy="9144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#Ví dụ for: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D68F69-B452-40FE-AD65-9C34C2C677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38" r="6531"/>
          <a:stretch/>
        </p:blipFill>
        <p:spPr>
          <a:xfrm>
            <a:off x="130280" y="1981200"/>
            <a:ext cx="4213122" cy="3505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8CB921-A884-45FA-9C27-C6D95BB88CD8}"/>
              </a:ext>
            </a:extLst>
          </p:cNvPr>
          <p:cNvSpPr txBox="1"/>
          <p:nvPr/>
        </p:nvSpPr>
        <p:spPr>
          <a:xfrm>
            <a:off x="4454459" y="1065436"/>
            <a:ext cx="4559261" cy="47271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/>
              <a:t>N=8, s=0</a:t>
            </a:r>
          </a:p>
          <a:p>
            <a:pPr>
              <a:lnSpc>
                <a:spcPct val="200000"/>
              </a:lnSpc>
            </a:pPr>
            <a:r>
              <a:rPr lang="en-US" sz="2200"/>
              <a:t>N=8 là số chẵn n%2==0=</a:t>
            </a:r>
            <a:r>
              <a:rPr lang="en-US" sz="2200">
                <a:sym typeface="Wingdings" panose="05000000000000000000" pitchFamily="2" charset="2"/>
              </a:rPr>
              <a:t>8%2=0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200">
                <a:sym typeface="Wingdings" panose="05000000000000000000" pitchFamily="2" charset="2"/>
              </a:rPr>
              <a:t>x=2s=s+x=0+2=2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200"/>
              <a:t>x=4</a:t>
            </a:r>
            <a:r>
              <a:rPr lang="en-US" sz="2200">
                <a:sym typeface="Wingdings" panose="05000000000000000000" pitchFamily="2" charset="2"/>
              </a:rPr>
              <a:t>s=s+x=2+4=6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200"/>
              <a:t>X=6</a:t>
            </a:r>
            <a:r>
              <a:rPr lang="en-US" sz="2200">
                <a:sym typeface="Wingdings" panose="05000000000000000000" pitchFamily="2" charset="2"/>
              </a:rPr>
              <a:t>s=s+x=6+6=12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200">
                <a:sym typeface="Wingdings" panose="05000000000000000000" pitchFamily="2" charset="2"/>
              </a:rPr>
              <a:t>X=8s=s+x=12+8=20</a:t>
            </a:r>
          </a:p>
          <a:p>
            <a:pPr marL="457200" indent="-457200">
              <a:lnSpc>
                <a:spcPct val="200000"/>
              </a:lnSpc>
              <a:buAutoNum type="arabicParenR"/>
            </a:pPr>
            <a:r>
              <a:rPr lang="en-US" sz="2200">
                <a:sym typeface="Wingdings" panose="05000000000000000000" pitchFamily="2" charset="2"/>
              </a:rPr>
              <a:t>X=10thấy 10&gt;n+1=9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67179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14400"/>
            <a:ext cx="8305801" cy="51816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Python hỗ trợ </a:t>
            </a:r>
            <a:r>
              <a:rPr lang="en-US" sz="2800" b="1">
                <a:solidFill>
                  <a:schemeClr val="tx2"/>
                </a:solidFill>
                <a:latin typeface="Cambria" panose="02040503050406030204" pitchFamily="18" charset="0"/>
              </a:rPr>
              <a:t>else block </a:t>
            </a:r>
            <a:r>
              <a:rPr lang="en-US" sz="2800">
                <a:latin typeface="Cambria" panose="02040503050406030204" pitchFamily="18" charset="0"/>
              </a:rPr>
              <a:t>trong tr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ờng hợp </a:t>
            </a: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for</a:t>
            </a:r>
            <a:r>
              <a:rPr lang="en-US" sz="2800">
                <a:latin typeface="Cambria" panose="02040503050406030204" pitchFamily="18" charset="0"/>
              </a:rPr>
              <a:t> kết thúc một cách bình th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ờng (tức là không phải dùng break để kết thúc)</a:t>
            </a:r>
          </a:p>
          <a:p>
            <a:pPr marL="1257300" lvl="3" indent="0" algn="just">
              <a:buNone/>
            </a:pPr>
            <a:endParaRPr lang="en-US" sz="28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8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Nếu </a:t>
            </a:r>
            <a:r>
              <a:rPr lang="en-US" sz="2800" b="1">
                <a:solidFill>
                  <a:srgbClr val="C00000"/>
                </a:solidFill>
                <a:latin typeface="Cambria" panose="02040503050406030204" pitchFamily="18" charset="0"/>
              </a:rPr>
              <a:t>for</a:t>
            </a:r>
            <a:r>
              <a:rPr lang="en-US" sz="2800">
                <a:latin typeface="Cambria" panose="02040503050406030204" pitchFamily="18" charset="0"/>
              </a:rPr>
              <a:t> kết thúc một cách bình th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ờng thì </a:t>
            </a:r>
            <a:r>
              <a:rPr lang="en-US" sz="2800" b="1">
                <a:solidFill>
                  <a:schemeClr val="tx2"/>
                </a:solidFill>
                <a:latin typeface="Cambria" panose="02040503050406030204" pitchFamily="18" charset="0"/>
              </a:rPr>
              <a:t>else-block</a:t>
            </a:r>
            <a:r>
              <a:rPr lang="en-US" sz="2800">
                <a:latin typeface="Cambria" panose="02040503050406030204" pitchFamily="18" charset="0"/>
              </a:rPr>
              <a:t> sẽ tự động đ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ợc thực hiện ngay sau đó.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E32559-6382-4D66-BE15-855140CB8D8F}"/>
              </a:ext>
            </a:extLst>
          </p:cNvPr>
          <p:cNvSpPr/>
          <p:nvPr/>
        </p:nvSpPr>
        <p:spPr>
          <a:xfrm>
            <a:off x="1981200" y="2521059"/>
            <a:ext cx="4953000" cy="181588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1257300" lvl="3" indent="0" algn="just">
              <a:buNone/>
            </a:pPr>
            <a:r>
              <a:rPr lang="en-US" sz="2800" b="1" dirty="0">
                <a:latin typeface="Cambria" panose="02040503050406030204" pitchFamily="18" charset="0"/>
              </a:rPr>
              <a:t>for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</a:rPr>
              <a:t>expression</a:t>
            </a:r>
            <a:r>
              <a:rPr lang="en-US" sz="2800" b="1" dirty="0">
                <a:latin typeface="Cambria" panose="02040503050406030204" pitchFamily="18" charset="0"/>
              </a:rPr>
              <a:t>:</a:t>
            </a:r>
          </a:p>
          <a:p>
            <a:pPr marL="1257300" lvl="3" indent="0" algn="just">
              <a:buNone/>
            </a:pPr>
            <a:r>
              <a:rPr lang="en-US" sz="2800" b="1" dirty="0">
                <a:latin typeface="Cambria" panose="02040503050406030204" pitchFamily="18" charset="0"/>
              </a:rPr>
              <a:t>       </a:t>
            </a:r>
            <a:r>
              <a:rPr lang="en-US" sz="2800" b="1" dirty="0">
                <a:solidFill>
                  <a:schemeClr val="tx2"/>
                </a:solidFill>
                <a:latin typeface="Cambria" panose="02040503050406030204" pitchFamily="18" charset="0"/>
              </a:rPr>
              <a:t>for-block</a:t>
            </a:r>
          </a:p>
          <a:p>
            <a:pPr marL="1257300" lvl="3" indent="0" algn="just">
              <a:buNone/>
            </a:pPr>
            <a:r>
              <a:rPr lang="en-US" sz="2800" b="1" dirty="0">
                <a:latin typeface="Cambria" panose="02040503050406030204" pitchFamily="18" charset="0"/>
              </a:rPr>
              <a:t>else:</a:t>
            </a:r>
          </a:p>
          <a:p>
            <a:pPr marL="1257300" lvl="3" indent="0" algn="just">
              <a:buNone/>
            </a:pPr>
            <a:r>
              <a:rPr lang="en-US" sz="2800" b="1" dirty="0">
                <a:solidFill>
                  <a:schemeClr val="tx2"/>
                </a:solidFill>
                <a:latin typeface="Cambria" panose="02040503050406030204" pitchFamily="18" charset="0"/>
              </a:rPr>
              <a:t>       else-block</a:t>
            </a:r>
          </a:p>
        </p:txBody>
      </p:sp>
    </p:spTree>
    <p:extLst>
      <p:ext uri="{BB962C8B-B14F-4D97-AF65-F5344CB8AC3E}">
        <p14:creationId xmlns:p14="http://schemas.microsoft.com/office/powerpoint/2010/main" val="2484342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14400"/>
            <a:ext cx="8305801" cy="51816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0-5,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vòng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2"/>
                </a:solidFill>
              </a:rPr>
              <a:t>for</a:t>
            </a:r>
            <a:r>
              <a:rPr lang="en-US" dirty="0"/>
              <a:t> x in </a:t>
            </a:r>
            <a:r>
              <a:rPr lang="en-US" dirty="0">
                <a:solidFill>
                  <a:schemeClr val="tx2"/>
                </a:solidFill>
              </a:rPr>
              <a:t>range</a:t>
            </a:r>
            <a:r>
              <a:rPr lang="en-US" dirty="0"/>
              <a:t>(6):</a:t>
            </a:r>
            <a:br>
              <a:rPr lang="en-US" sz="2800" dirty="0"/>
            </a:br>
            <a:r>
              <a:rPr lang="en-US" dirty="0"/>
              <a:t>	</a:t>
            </a:r>
            <a:r>
              <a:rPr lang="en-US" dirty="0">
                <a:solidFill>
                  <a:schemeClr val="tx2"/>
                </a:solidFill>
              </a:rPr>
              <a:t>print</a:t>
            </a:r>
            <a:r>
              <a:rPr lang="en-US" dirty="0"/>
              <a:t>(x)</a:t>
            </a:r>
            <a:br>
              <a:rPr lang="en-US" sz="2800" dirty="0"/>
            </a:br>
            <a:r>
              <a:rPr lang="en-US" dirty="0">
                <a:solidFill>
                  <a:schemeClr val="tx2"/>
                </a:solidFill>
              </a:rPr>
              <a:t>else</a:t>
            </a:r>
            <a:r>
              <a:rPr lang="en-US" dirty="0"/>
              <a:t>:</a:t>
            </a:r>
            <a:br>
              <a:rPr lang="en-US" sz="2800" dirty="0"/>
            </a:br>
            <a:r>
              <a:rPr lang="en-US" dirty="0"/>
              <a:t>	print("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Finally finished!</a:t>
            </a:r>
            <a:r>
              <a:rPr lang="en-US" dirty="0"/>
              <a:t>")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259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2. Vòng lặp for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914399"/>
            <a:ext cx="8305801" cy="5838825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Thực hiện đoạn code, khi nhập a = 8</a:t>
            </a: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>
                <a:latin typeface="Cambria" panose="02040503050406030204" pitchFamily="18" charset="0"/>
              </a:rPr>
              <a:t>Nếu nhập a là số chẵn thì tính ra sum, còn số lẻ không ra sum(do ngừng for bằng break)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93266-C806-4E48-9311-2FC0F16AC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85912"/>
            <a:ext cx="48006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6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 dirty="0">
                <a:solidFill>
                  <a:srgbClr val="0070C0"/>
                </a:solidFill>
              </a:rPr>
              <a:t>3. </a:t>
            </a:r>
            <a:r>
              <a:rPr lang="en-US" sz="3200" dirty="0" err="1">
                <a:solidFill>
                  <a:srgbClr val="0070C0"/>
                </a:solidFill>
              </a:rPr>
              <a:t>Lệnh</a:t>
            </a:r>
            <a:r>
              <a:rPr lang="en-US" sz="3200" dirty="0">
                <a:solidFill>
                  <a:srgbClr val="0070C0"/>
                </a:solidFill>
              </a:rPr>
              <a:t> break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330383" cy="20574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là từ khóa đặc biệt dùng để thoát khỏi vòng lặp chứa nó trực tiếp khi đạt đ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ợc mức yêu cầu nào đó.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Gặp lệnh break, chư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trình sẽ không thực hiện bất cứ lệnh nào bên d</a:t>
            </a: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ới nó, mà thoát luôn khỏi vòng lặp.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0A689-8EBA-4C5D-B4AC-87F3BE158EDA}"/>
              </a:ext>
            </a:extLst>
          </p:cNvPr>
          <p:cNvSpPr/>
          <p:nvPr/>
        </p:nvSpPr>
        <p:spPr>
          <a:xfrm>
            <a:off x="464572" y="3102077"/>
            <a:ext cx="45965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</a:t>
            </a:r>
          </a:p>
          <a:p>
            <a:r>
              <a:rPr lang="en-US" sz="28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Thoát khỏi vòng lặp khi i là 3: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C522DD-0EB8-4173-8E0F-A6D02EA5FC9F}"/>
              </a:ext>
            </a:extLst>
          </p:cNvPr>
          <p:cNvSpPr/>
          <p:nvPr/>
        </p:nvSpPr>
        <p:spPr>
          <a:xfrm>
            <a:off x="616972" y="4114800"/>
            <a:ext cx="31930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800" dirty="0">
                <a:solidFill>
                  <a:srgbClr val="000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48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3. Lệnh break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330383" cy="20574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u="sng" dirty="0" err="1">
                <a:latin typeface="Cambria" panose="02040503050406030204" pitchFamily="18" charset="0"/>
              </a:rPr>
              <a:t>Ví</a:t>
            </a:r>
            <a:r>
              <a:rPr lang="en-US" sz="2800" b="1" u="sng" dirty="0">
                <a:latin typeface="Cambria" panose="02040503050406030204" pitchFamily="18" charset="0"/>
              </a:rPr>
              <a:t> </a:t>
            </a:r>
            <a:r>
              <a:rPr lang="en-US" sz="2800" b="1" u="sng" dirty="0" err="1">
                <a:latin typeface="Cambria" panose="02040503050406030204" pitchFamily="18" charset="0"/>
              </a:rPr>
              <a:t>dụ</a:t>
            </a:r>
            <a:r>
              <a:rPr lang="en-US" sz="2800" b="1" u="sng" dirty="0">
                <a:latin typeface="Cambria" panose="02040503050406030204" pitchFamily="18" charset="0"/>
              </a:rPr>
              <a:t>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Viết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chư</a:t>
            </a:r>
            <a:r>
              <a:rPr lang="vi-VN" sz="2800" dirty="0">
                <a:latin typeface="Cambria" panose="02040503050406030204" pitchFamily="18" charset="0"/>
              </a:rPr>
              <a:t>ơ</a:t>
            </a:r>
            <a:r>
              <a:rPr lang="en-US" sz="2800" dirty="0">
                <a:latin typeface="Cambria" panose="02040503050406030204" pitchFamily="18" charset="0"/>
              </a:rPr>
              <a:t>ng </a:t>
            </a:r>
            <a:r>
              <a:rPr lang="en-US" sz="2800" dirty="0" err="1">
                <a:latin typeface="Cambria" panose="02040503050406030204" pitchFamily="18" charset="0"/>
              </a:rPr>
              <a:t>trình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vòng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lặp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vĩnh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cửu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cho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phép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phần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mềm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chạy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liên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tục</a:t>
            </a:r>
            <a:r>
              <a:rPr lang="en-US" sz="2800" dirty="0">
                <a:latin typeface="Cambria" panose="02040503050406030204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</a:rPr>
              <a:t>khi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nào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hỏi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thoát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mới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thoát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phần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</a:rPr>
              <a:t>mềm</a:t>
            </a:r>
            <a:r>
              <a:rPr lang="en-US" sz="2800" dirty="0">
                <a:latin typeface="Cambria" panose="02040503050406030204" pitchFamily="18" charset="0"/>
              </a:rPr>
              <a:t>:</a:t>
            </a:r>
          </a:p>
          <a:p>
            <a:pPr marL="0" indent="0" algn="just">
              <a:buNone/>
            </a:pPr>
            <a:endParaRPr lang="en-US" sz="2800" dirty="0"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CA43BB-F1B2-480E-83CB-E9A31D449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17" y="2590800"/>
            <a:ext cx="8531944" cy="369331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while True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a =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Nhâp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a = 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Giá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trị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vừa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nhập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a)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s =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Tiếp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tục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chương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trình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(C/K):"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s ==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"k"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b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Tạm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biệt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7844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Lệnh continue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330383" cy="43434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>
                <a:solidFill>
                  <a:srgbClr val="FF0000"/>
                </a:solidFill>
                <a:latin typeface="Cambria" panose="02040503050406030204" pitchFamily="18" charset="0"/>
              </a:rPr>
              <a:t>continue</a:t>
            </a:r>
            <a:r>
              <a:rPr lang="en-US" sz="2800">
                <a:latin typeface="Cambria" panose="02040503050406030204" pitchFamily="18" charset="0"/>
              </a:rPr>
              <a:t> là từ khóa đặc biệt dùng để nhảy sớm tới lần lặp kế tiếp, các lệnh bên d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ới continue sẽ không đ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ợc thực thi.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>
                <a:latin typeface="Cambria" panose="02040503050406030204" pitchFamily="18" charset="0"/>
              </a:rPr>
              <a:t>Lưu ý khác với break, gặp break thì ngừng luôn vòng lặp, gặp continue chỉ dừng lần lặp hiện tại đang dở dang để chuyển qua lần lặp tiếp theo.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07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Lệnh continue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372170" cy="56388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Ví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dụ</a:t>
            </a:r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qua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i</a:t>
            </a:r>
            <a:r>
              <a:rPr lang="en-US" dirty="0"/>
              <a:t> = 0</a:t>
            </a:r>
            <a:br>
              <a:rPr lang="en-US" sz="2800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while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&lt; 6: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dirty="0" err="1"/>
              <a:t>i</a:t>
            </a:r>
            <a:r>
              <a:rPr lang="en-US" dirty="0"/>
              <a:t> += 1</a:t>
            </a:r>
            <a:br>
              <a:rPr lang="en-US" sz="2800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	if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== 3:</a:t>
            </a:r>
            <a:br>
              <a:rPr lang="en-US" sz="2800" dirty="0"/>
            </a:br>
            <a:r>
              <a:rPr lang="en-US" sz="2800" dirty="0"/>
              <a:t>	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continue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print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</a:t>
            </a:r>
            <a:endParaRPr lang="en-US" sz="28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63909F-8A9A-4A76-93BF-7BB59FC99011}"/>
              </a:ext>
            </a:extLst>
          </p:cNvPr>
          <p:cNvSpPr txBox="1">
            <a:spLocks/>
          </p:cNvSpPr>
          <p:nvPr/>
        </p:nvSpPr>
        <p:spPr bwMode="auto">
          <a:xfrm>
            <a:off x="5562600" y="2682874"/>
            <a:ext cx="3165987" cy="341312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v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Wingdings" panose="05000000000000000000" pitchFamily="2" charset="2"/>
              <a:buChar char="Ø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46C0A"/>
              </a:buClr>
              <a:buFont typeface="Courier New" panose="02070309020205020404" pitchFamily="49" charset="0"/>
              <a:buChar char="o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</a:rPr>
              <a:t>Kết quả: 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/>
              <a:t>1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sz="2800">
                <a:latin typeface="Cambria" panose="02040503050406030204" pitchFamily="18" charset="0"/>
              </a:rPr>
              <a:t>2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sz="2800">
                <a:latin typeface="Cambria" panose="02040503050406030204" pitchFamily="18" charset="0"/>
              </a:rPr>
              <a:t>4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sz="2800">
                <a:latin typeface="Cambria" panose="02040503050406030204" pitchFamily="18" charset="0"/>
              </a:rPr>
              <a:t>5</a:t>
            </a: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sz="2800">
                <a:latin typeface="Cambria" panose="020405030504060302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3462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4. Lệnh continue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7" y="990600"/>
            <a:ext cx="8372170" cy="56388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</a:t>
            </a:r>
          </a:p>
          <a:p>
            <a:pPr marL="0" indent="0" algn="just">
              <a:buNone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Tính tổng các chữ số lẻ từ 1-&gt;15, ngoại trừ số 3 và số 11.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D8B957-7C7D-42CA-BF64-EE288A80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7" y="2500313"/>
            <a:ext cx="5280074" cy="268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53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5. Vòng lặp lồng nhau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6" y="990599"/>
            <a:ext cx="8558983" cy="5762625"/>
          </a:xfrm>
        </p:spPr>
        <p:txBody>
          <a:bodyPr/>
          <a:lstStyle/>
          <a:p>
            <a:r>
              <a:rPr lang="vi-VN" dirty="0"/>
              <a:t>Một vòng lặp lồng nhau là một vòng lặp bên trong một vòng lặp.</a:t>
            </a:r>
          </a:p>
          <a:p>
            <a:r>
              <a:rPr lang="vi-VN" dirty="0"/>
              <a:t>Các "</a:t>
            </a:r>
            <a:r>
              <a:rPr lang="vi-VN" dirty="0">
                <a:solidFill>
                  <a:schemeClr val="accent6">
                    <a:lumMod val="50000"/>
                  </a:schemeClr>
                </a:solidFill>
              </a:rPr>
              <a:t>vòng lặp bên trong</a:t>
            </a:r>
            <a:r>
              <a:rPr lang="vi-VN" dirty="0"/>
              <a:t>" sẽ được thực hiện một lần cho mỗi lần lặp của "vòng ngoài":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Ví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</a:rPr>
              <a:t>dụ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en-US" dirty="0"/>
              <a:t>In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adj = ["red", "big", "tasty"]</a:t>
            </a:r>
            <a:br>
              <a:rPr lang="en-US" dirty="0"/>
            </a:br>
            <a:r>
              <a:rPr lang="en-US" dirty="0"/>
              <a:t>fruits = ["apple", "banana", "cherry"]</a:t>
            </a:r>
            <a:br>
              <a:rPr lang="en-US" dirty="0"/>
            </a:br>
            <a:r>
              <a:rPr lang="en-US" dirty="0"/>
              <a:t>for x in adj:</a:t>
            </a:r>
            <a:br>
              <a:rPr lang="en-US" dirty="0"/>
            </a:br>
            <a:r>
              <a:rPr lang="en-US" dirty="0"/>
              <a:t>	for y in fruits:</a:t>
            </a:r>
            <a:br>
              <a:rPr lang="en-US" dirty="0"/>
            </a:br>
            <a:r>
              <a:rPr lang="en-US" dirty="0"/>
              <a:t>		print(x, y)</a:t>
            </a:r>
            <a:endParaRPr lang="vi-VN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14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5. Vòng lặp lồng nhau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6" y="990599"/>
            <a:ext cx="8558983" cy="5762625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6">
                    <a:lumMod val="50000"/>
                  </a:schemeClr>
                </a:solidFill>
              </a:rPr>
              <a:t>Ví dụ: </a:t>
            </a:r>
            <a:r>
              <a:rPr lang="en-US"/>
              <a:t>Cho đoạn code, cho biết kết quả khi n=7?</a:t>
            </a:r>
            <a:endParaRPr lang="vi-VN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7D6BE-6837-4373-8CEA-11A5DDB77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980571"/>
            <a:ext cx="5691872" cy="3277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7A1FAD-7D2E-456B-B2BA-7212FCAD8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131" y="1961769"/>
            <a:ext cx="2728469" cy="291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8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5. Vòng lặp lồng nhau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6" y="990599"/>
            <a:ext cx="8558983" cy="5762625"/>
          </a:xfrm>
        </p:spPr>
        <p:txBody>
          <a:bodyPr/>
          <a:lstStyle/>
          <a:p>
            <a:pPr marL="0" indent="0">
              <a:buNone/>
            </a:pPr>
            <a:endParaRPr lang="vi-VN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876A1F-F30C-4E01-8CB2-8BA05AB78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81658"/>
              </p:ext>
            </p:extLst>
          </p:nvPr>
        </p:nvGraphicFramePr>
        <p:xfrm>
          <a:off x="3088415" y="2229678"/>
          <a:ext cx="3378200" cy="3699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537243764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4053411036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408819524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1422806033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400260457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1523164971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513099437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3241111075"/>
                    </a:ext>
                  </a:extLst>
                </a:gridCol>
              </a:tblGrid>
              <a:tr h="462492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420590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6473997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237713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99026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884523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162972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34537"/>
                  </a:ext>
                </a:extLst>
              </a:tr>
              <a:tr h="462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532264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18B125B8-73FE-4CC5-9885-87A6F38530EC}"/>
              </a:ext>
            </a:extLst>
          </p:cNvPr>
          <p:cNvSpPr/>
          <p:nvPr/>
        </p:nvSpPr>
        <p:spPr>
          <a:xfrm>
            <a:off x="1412015" y="2077278"/>
            <a:ext cx="1600200" cy="685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i=0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A5B513A-C66F-4EA6-AFFE-69357AA976A1}"/>
              </a:ext>
            </a:extLst>
          </p:cNvPr>
          <p:cNvSpPr/>
          <p:nvPr/>
        </p:nvSpPr>
        <p:spPr>
          <a:xfrm>
            <a:off x="1405389" y="5430078"/>
            <a:ext cx="1600200" cy="6857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i=n-1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BC24229-5EC2-4C23-B750-F4A8250EA246}"/>
              </a:ext>
            </a:extLst>
          </p:cNvPr>
          <p:cNvSpPr/>
          <p:nvPr/>
        </p:nvSpPr>
        <p:spPr>
          <a:xfrm>
            <a:off x="2683672" y="1220254"/>
            <a:ext cx="1143000" cy="10104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J=0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7DA23F65-27C2-446B-94E4-5AD79BAD33A1}"/>
              </a:ext>
            </a:extLst>
          </p:cNvPr>
          <p:cNvSpPr/>
          <p:nvPr/>
        </p:nvSpPr>
        <p:spPr>
          <a:xfrm>
            <a:off x="5526815" y="1219200"/>
            <a:ext cx="1495285" cy="10104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J=n-1</a:t>
            </a:r>
          </a:p>
        </p:txBody>
      </p:sp>
    </p:spTree>
    <p:extLst>
      <p:ext uri="{BB962C8B-B14F-4D97-AF65-F5344CB8AC3E}">
        <p14:creationId xmlns:p14="http://schemas.microsoft.com/office/powerpoint/2010/main" val="18957586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b="1">
                <a:solidFill>
                  <a:srgbClr val="002060"/>
                </a:solidFill>
                <a:latin typeface="Cambria" panose="02040503050406030204" pitchFamily="18" charset="0"/>
              </a:rPr>
              <a:t>Câu 1:</a:t>
            </a: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514A2-0492-47D0-BFCE-0EFF0370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990600"/>
            <a:ext cx="65817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42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b="1">
                <a:solidFill>
                  <a:srgbClr val="002060"/>
                </a:solidFill>
                <a:latin typeface="Cambria" panose="02040503050406030204" pitchFamily="18" charset="0"/>
              </a:rPr>
              <a:t>Câu 2: </a:t>
            </a:r>
            <a:r>
              <a:rPr lang="en-US" sz="2800">
                <a:latin typeface="Cambria" panose="02040503050406030204" pitchFamily="18" charset="0"/>
              </a:rPr>
              <a:t>Viết ch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ơng trình nhập vào một số, kiểm tra xem số này có phải là số nguyên tố hay không. Hỏi ng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ời dùng có tiếp tục sử dụng hay thoát ch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ơng trình.</a:t>
            </a: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05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 b="1">
                <a:solidFill>
                  <a:srgbClr val="002060"/>
                </a:solidFill>
                <a:latin typeface="Cambria" panose="02040503050406030204" pitchFamily="18" charset="0"/>
              </a:rPr>
              <a:t>Câu 3: </a:t>
            </a:r>
            <a:r>
              <a:rPr lang="en-US" sz="2800">
                <a:latin typeface="Cambria" panose="02040503050406030204" pitchFamily="18" charset="0"/>
              </a:rPr>
              <a:t>Viết ch</a:t>
            </a:r>
            <a:r>
              <a:rPr lang="vi-VN" sz="2800">
                <a:latin typeface="Cambria" panose="02040503050406030204" pitchFamily="18" charset="0"/>
              </a:rPr>
              <a:t>ư</a:t>
            </a:r>
            <a:r>
              <a:rPr lang="en-US" sz="2800">
                <a:latin typeface="Cambria" panose="02040503050406030204" pitchFamily="18" charset="0"/>
              </a:rPr>
              <a:t>ơng trình xuất bảng cửu chư</a:t>
            </a:r>
            <a:r>
              <a:rPr lang="vi-VN" sz="2800">
                <a:latin typeface="Cambria" panose="02040503050406030204" pitchFamily="18" charset="0"/>
              </a:rPr>
              <a:t>ơ</a:t>
            </a:r>
            <a:r>
              <a:rPr lang="en-US" sz="2800">
                <a:latin typeface="Cambria" panose="02040503050406030204" pitchFamily="18" charset="0"/>
              </a:rPr>
              <a:t>ng 2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9 nh</a:t>
            </a:r>
            <a:r>
              <a:rPr lang="vi-VN" sz="2800">
                <a:latin typeface="Cambria" panose="02040503050406030204" pitchFamily="18" charset="0"/>
                <a:sym typeface="Wingdings" panose="05000000000000000000" pitchFamily="2" charset="2"/>
              </a:rPr>
              <a:t>ư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 hình d</a:t>
            </a:r>
            <a:r>
              <a:rPr lang="vi-VN" sz="2800">
                <a:latin typeface="Cambria" panose="02040503050406030204" pitchFamily="18" charset="0"/>
                <a:sym typeface="Wingdings" panose="05000000000000000000" pitchFamily="2" charset="2"/>
              </a:rPr>
              <a:t>ư</a:t>
            </a:r>
            <a:r>
              <a:rPr lang="en-US" sz="2800">
                <a:latin typeface="Cambria" panose="02040503050406030204" pitchFamily="18" charset="0"/>
                <a:sym typeface="Wingdings" panose="05000000000000000000" pitchFamily="2" charset="2"/>
              </a:rPr>
              <a:t>ới đây</a:t>
            </a:r>
            <a:endParaRPr lang="en-US" sz="2800">
              <a:latin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800">
                <a:latin typeface="Cambria" panose="02040503050406030204" pitchFamily="18" charset="0"/>
              </a:rPr>
              <a:t>.</a:t>
            </a: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1CC11-980B-4E00-B26C-19EF475E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1" y="2590800"/>
            <a:ext cx="8404302" cy="2133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EF33ABF-5D94-4EF5-A9C6-DCF93DBE7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029200"/>
            <a:ext cx="8207696" cy="1554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 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line =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"{0}*{1:&gt;2} ={2:&gt;2}"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.format(j, i, i * j)</a:t>
            </a:r>
            <a:b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(line,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\t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US" altLang="en-U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262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 về nhà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0EDE727-7B49-433C-A638-61F00604FD55}"/>
              </a:ext>
            </a:extLst>
          </p:cNvPr>
          <p:cNvSpPr txBox="1">
            <a:spLocks/>
          </p:cNvSpPr>
          <p:nvPr/>
        </p:nvSpPr>
        <p:spPr>
          <a:xfrm>
            <a:off x="265113" y="1451877"/>
            <a:ext cx="8572500" cy="530134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1: </a:t>
            </a:r>
            <a:r>
              <a:rPr lang="en-US" sz="2400">
                <a:latin typeface="Cambria" panose="02040503050406030204" pitchFamily="18" charset="0"/>
              </a:rPr>
              <a:t>Cho biết bao nhiêu dấu * đ</a:t>
            </a:r>
            <a:r>
              <a:rPr lang="vi-VN" sz="2400">
                <a:latin typeface="Cambria" panose="02040503050406030204" pitchFamily="18" charset="0"/>
              </a:rPr>
              <a:t>ư</a:t>
            </a:r>
            <a:r>
              <a:rPr lang="en-US" sz="2400">
                <a:latin typeface="Cambria" panose="02040503050406030204" pitchFamily="18" charset="0"/>
              </a:rPr>
              <a:t>ợc in ra trên màn hình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2:</a:t>
            </a:r>
            <a:r>
              <a:rPr lang="en-US" sz="2400">
                <a:latin typeface="Cambria" panose="02040503050406030204" pitchFamily="18" charset="0"/>
              </a:rPr>
              <a:t> Cho biết bao nhiêu dấu * đ</a:t>
            </a:r>
            <a:r>
              <a:rPr lang="vi-VN" sz="2400">
                <a:latin typeface="Cambria" panose="02040503050406030204" pitchFamily="18" charset="0"/>
              </a:rPr>
              <a:t>ư</a:t>
            </a:r>
            <a:r>
              <a:rPr lang="en-US" sz="2400">
                <a:latin typeface="Cambria" panose="02040503050406030204" pitchFamily="18" charset="0"/>
              </a:rPr>
              <a:t>ợc in ra trên màn hình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E80594-9D1E-4639-8005-C5C742B8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114550"/>
            <a:ext cx="3403734" cy="1314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0800B-9E83-4FB9-92BC-6DF3ACE3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9" y="4203350"/>
            <a:ext cx="3735445" cy="25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84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 về nhà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418DAE3-83EB-46B9-943B-EFC52A2C51F6}"/>
              </a:ext>
            </a:extLst>
          </p:cNvPr>
          <p:cNvSpPr txBox="1">
            <a:spLocks/>
          </p:cNvSpPr>
          <p:nvPr/>
        </p:nvSpPr>
        <p:spPr>
          <a:xfrm>
            <a:off x="342900" y="1664494"/>
            <a:ext cx="8572500" cy="393620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3:</a:t>
            </a:r>
            <a:r>
              <a:rPr lang="en-US" sz="2400" b="1">
                <a:latin typeface="Cambria" panose="02040503050406030204" pitchFamily="18" charset="0"/>
              </a:rPr>
              <a:t> </a:t>
            </a:r>
            <a:r>
              <a:rPr lang="en-US" sz="2400">
                <a:latin typeface="Cambria" panose="02040503050406030204" pitchFamily="18" charset="0"/>
              </a:rPr>
              <a:t>Giải thích cách chạy các dòng lệnh range: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3A57AB-8116-4422-A5AE-456E6990FDEA}"/>
              </a:ext>
            </a:extLst>
          </p:cNvPr>
          <p:cNvSpPr/>
          <p:nvPr/>
        </p:nvSpPr>
        <p:spPr>
          <a:xfrm>
            <a:off x="685800" y="2381265"/>
            <a:ext cx="4572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>
                <a:latin typeface="Cambria" panose="02040503050406030204" pitchFamily="18" charset="0"/>
              </a:rPr>
              <a:t>(a) range(5)</a:t>
            </a:r>
          </a:p>
          <a:p>
            <a:r>
              <a:rPr lang="en-US" sz="2400">
                <a:latin typeface="Cambria" panose="02040503050406030204" pitchFamily="18" charset="0"/>
              </a:rPr>
              <a:t>(b) range(5, 10)</a:t>
            </a:r>
          </a:p>
          <a:p>
            <a:r>
              <a:rPr lang="en-US" sz="2400">
                <a:latin typeface="Cambria" panose="02040503050406030204" pitchFamily="18" charset="0"/>
              </a:rPr>
              <a:t>(c) range(5, 20, 3)</a:t>
            </a:r>
          </a:p>
          <a:p>
            <a:r>
              <a:rPr lang="en-US" sz="2400">
                <a:latin typeface="Cambria" panose="02040503050406030204" pitchFamily="18" charset="0"/>
              </a:rPr>
              <a:t>(d) range(20, 5, -1)</a:t>
            </a:r>
          </a:p>
          <a:p>
            <a:r>
              <a:rPr lang="en-US" sz="2400">
                <a:latin typeface="Cambria" panose="02040503050406030204" pitchFamily="18" charset="0"/>
              </a:rPr>
              <a:t>(e) range(20, 5, -3)</a:t>
            </a:r>
          </a:p>
          <a:p>
            <a:r>
              <a:rPr lang="en-US" sz="2400">
                <a:latin typeface="Cambria" panose="02040503050406030204" pitchFamily="18" charset="0"/>
              </a:rPr>
              <a:t>(f) range(10, 5)</a:t>
            </a:r>
          </a:p>
          <a:p>
            <a:r>
              <a:rPr lang="en-US" sz="2400">
                <a:latin typeface="Cambria" panose="02040503050406030204" pitchFamily="18" charset="0"/>
              </a:rPr>
              <a:t>(g) range(0)</a:t>
            </a:r>
          </a:p>
          <a:p>
            <a:r>
              <a:rPr lang="en-US" sz="2400">
                <a:latin typeface="Cambria" panose="02040503050406030204" pitchFamily="18" charset="0"/>
              </a:rPr>
              <a:t>(h) range(10, 101, 10)</a:t>
            </a:r>
          </a:p>
          <a:p>
            <a:r>
              <a:rPr lang="en-US" sz="2400">
                <a:latin typeface="Cambria" panose="02040503050406030204" pitchFamily="18" charset="0"/>
              </a:rPr>
              <a:t>(i) range(10, -1, -1)</a:t>
            </a:r>
          </a:p>
          <a:p>
            <a:r>
              <a:rPr lang="en-US" sz="2400">
                <a:latin typeface="Cambria" panose="02040503050406030204" pitchFamily="18" charset="0"/>
              </a:rPr>
              <a:t>(j) range(-3, 4)</a:t>
            </a:r>
          </a:p>
          <a:p>
            <a:r>
              <a:rPr lang="en-US" sz="2400">
                <a:latin typeface="Cambria" panose="02040503050406030204" pitchFamily="18" charset="0"/>
              </a:rPr>
              <a:t>(k) range(0, 10, 1)</a:t>
            </a:r>
          </a:p>
        </p:txBody>
      </p:sp>
    </p:spTree>
    <p:extLst>
      <p:ext uri="{BB962C8B-B14F-4D97-AF65-F5344CB8AC3E}">
        <p14:creationId xmlns:p14="http://schemas.microsoft.com/office/powerpoint/2010/main" val="839418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 về nhà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796B1A-44F2-4622-9FB0-B43564EA2EC6}"/>
              </a:ext>
            </a:extLst>
          </p:cNvPr>
          <p:cNvSpPr txBox="1">
            <a:spLocks/>
          </p:cNvSpPr>
          <p:nvPr/>
        </p:nvSpPr>
        <p:spPr>
          <a:xfrm>
            <a:off x="342900" y="1295400"/>
            <a:ext cx="8572500" cy="501649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4:</a:t>
            </a:r>
            <a:r>
              <a:rPr lang="en-US" sz="2400" b="1">
                <a:latin typeface="Cambria" panose="02040503050406030204" pitchFamily="18" charset="0"/>
              </a:rPr>
              <a:t> </a:t>
            </a:r>
            <a:r>
              <a:rPr lang="en-US" sz="2400">
                <a:latin typeface="Cambria" panose="02040503050406030204" pitchFamily="18" charset="0"/>
              </a:rPr>
              <a:t>Bao nhiêu dấu * đ</a:t>
            </a:r>
            <a:r>
              <a:rPr lang="vi-VN" sz="2400">
                <a:latin typeface="Cambria" panose="02040503050406030204" pitchFamily="18" charset="0"/>
              </a:rPr>
              <a:t>ư</a:t>
            </a:r>
            <a:r>
              <a:rPr lang="en-US" sz="2400">
                <a:latin typeface="Cambria" panose="02040503050406030204" pitchFamily="18" charset="0"/>
              </a:rPr>
              <a:t>ợc in ra màn hình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5:</a:t>
            </a:r>
            <a:r>
              <a:rPr lang="en-US" sz="2400" b="1">
                <a:latin typeface="Cambria" panose="02040503050406030204" pitchFamily="18" charset="0"/>
              </a:rPr>
              <a:t> </a:t>
            </a:r>
            <a:r>
              <a:rPr lang="en-US" sz="2400">
                <a:latin typeface="Cambria" panose="02040503050406030204" pitchFamily="18" charset="0"/>
              </a:rPr>
              <a:t>Viết lại coding d</a:t>
            </a:r>
            <a:r>
              <a:rPr lang="vi-VN" sz="2400">
                <a:latin typeface="Cambria" panose="02040503050406030204" pitchFamily="18" charset="0"/>
              </a:rPr>
              <a:t>ư</a:t>
            </a:r>
            <a:r>
              <a:rPr lang="en-US" sz="2400">
                <a:latin typeface="Cambria" panose="02040503050406030204" pitchFamily="18" charset="0"/>
              </a:rPr>
              <a:t>ới đây bằng cách dùng từ khóa break thay thế cho biến done: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A34B5-9522-4875-BACD-9CFEA9355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092963"/>
            <a:ext cx="3871913" cy="1021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846853-5853-4479-B3C1-CEAAF2AFC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399" y="4343400"/>
            <a:ext cx="4123814" cy="249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89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AD2704CE-C6D1-41A0-8FEA-203853D2A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0"/>
            <a:ext cx="9028112" cy="914400"/>
          </a:xfrm>
        </p:spPr>
        <p:txBody>
          <a:bodyPr/>
          <a:lstStyle/>
          <a:p>
            <a:pPr algn="l">
              <a:lnSpc>
                <a:spcPct val="150000"/>
              </a:lnSpc>
              <a:spcBef>
                <a:spcPts val="1000"/>
              </a:spcBef>
              <a:buClr>
                <a:srgbClr val="215D9F"/>
              </a:buClr>
            </a:pPr>
            <a:r>
              <a:rPr lang="en-US" sz="3200">
                <a:solidFill>
                  <a:srgbClr val="0070C0"/>
                </a:solidFill>
              </a:rPr>
              <a:t>6. Bài tập về nhà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389CA34-20DF-451F-B09F-9A7C082A7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143000"/>
            <a:ext cx="8686799" cy="561022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280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6387F6B7-3E78-4DC2-ACF4-7A9010C8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B56E55-BAAA-4880-94A1-7A8094250C64}" type="slidenum">
              <a:rPr lang="en-US" altLang="en-US" sz="140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40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B521C8C-01D1-4D03-B141-C7D7C77B18B3}"/>
              </a:ext>
            </a:extLst>
          </p:cNvPr>
          <p:cNvSpPr txBox="1">
            <a:spLocks/>
          </p:cNvSpPr>
          <p:nvPr/>
        </p:nvSpPr>
        <p:spPr>
          <a:xfrm>
            <a:off x="342900" y="1143000"/>
            <a:ext cx="8572500" cy="4648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6:</a:t>
            </a:r>
            <a:r>
              <a:rPr lang="en-US" sz="2400" b="1">
                <a:latin typeface="Cambria" panose="02040503050406030204" pitchFamily="18" charset="0"/>
              </a:rPr>
              <a:t> </a:t>
            </a:r>
            <a:r>
              <a:rPr lang="en-US" sz="2400">
                <a:latin typeface="Cambria" panose="02040503050406030204" pitchFamily="18" charset="0"/>
              </a:rPr>
              <a:t>Vẽ các hình d</a:t>
            </a:r>
            <a:r>
              <a:rPr lang="vi-VN" sz="2400">
                <a:latin typeface="Cambria" panose="02040503050406030204" pitchFamily="18" charset="0"/>
              </a:rPr>
              <a:t>ư</a:t>
            </a:r>
            <a:r>
              <a:rPr lang="en-US" sz="2400">
                <a:latin typeface="Cambria" panose="02040503050406030204" pitchFamily="18" charset="0"/>
              </a:rPr>
              <a:t>ới đây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b="1" u="sng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b="1" u="sng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 b="1" u="sng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u="sng">
                <a:latin typeface="Cambria" panose="02040503050406030204" pitchFamily="18" charset="0"/>
              </a:rPr>
              <a:t>Câu 7:</a:t>
            </a:r>
            <a:r>
              <a:rPr lang="en-US" sz="2400" b="1">
                <a:latin typeface="Cambria" panose="02040503050406030204" pitchFamily="18" charset="0"/>
              </a:rPr>
              <a:t> </a:t>
            </a:r>
            <a:r>
              <a:rPr lang="en-US" sz="2400">
                <a:latin typeface="Cambria" panose="02040503050406030204" pitchFamily="18" charset="0"/>
              </a:rPr>
              <a:t>Nhập x, n, tính S(x,n):</a:t>
            </a: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2400">
              <a:latin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D06DF7-1BE0-4CE2-85FD-32F8432A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07" y="2274097"/>
            <a:ext cx="1350452" cy="12144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DBC432-222F-4368-B412-5197805D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414" y="2274097"/>
            <a:ext cx="1571624" cy="1214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EAD2A8-E2DA-4673-AB44-8672D84AF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933" y="1843090"/>
            <a:ext cx="2076450" cy="2076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FE9648-2192-4044-85B5-8C61B1316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77" y="4729164"/>
            <a:ext cx="8070123" cy="121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49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6184FF7-DEEF-47A1-9A9A-DD0097D09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Calibri(Body)"/>
              </a:rPr>
              <a:t>FAQ</a:t>
            </a:r>
          </a:p>
        </p:txBody>
      </p:sp>
      <p:pic>
        <p:nvPicPr>
          <p:cNvPr id="35843" name="Picture 6">
            <a:extLst>
              <a:ext uri="{FF2B5EF4-FFF2-40B4-BE49-F238E27FC236}">
                <a16:creationId xmlns:a16="http://schemas.microsoft.com/office/drawing/2014/main" id="{B788FFF5-0A29-4150-B189-30FF380DD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19200"/>
            <a:ext cx="5278438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A593F-6EF9-4302-BF31-B4014183E7A4}"/>
              </a:ext>
            </a:extLst>
          </p:cNvPr>
          <p:cNvCxnSpPr/>
          <p:nvPr/>
        </p:nvCxnSpPr>
        <p:spPr>
          <a:xfrm>
            <a:off x="457200" y="990600"/>
            <a:ext cx="8229600" cy="158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ED0F3CA8-F36D-487A-A924-2ADD066F8B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129588" y="5734050"/>
            <a:ext cx="609600" cy="520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v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E46C0A"/>
              </a:buClr>
              <a:buFont typeface="Wingdings" panose="05000000000000000000" pitchFamily="2" charset="2"/>
              <a:buChar char="Ø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E46C0A"/>
              </a:buClr>
              <a:buFont typeface="Courier New" panose="02070309020205020404" pitchFamily="49" charset="0"/>
              <a:buChar char="o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CC241A-78C4-4544-B917-F8DD6A2B851C}" type="slidenum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400">
              <a:solidFill>
                <a:srgbClr val="FFFFFF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Master_TrungKi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SlideMaster_TrungKien</Template>
  <TotalTime>3461</TotalTime>
  <Words>2019</Words>
  <Application>Microsoft Macintosh PowerPoint</Application>
  <PresentationFormat>On-screen Show (4:3)</PresentationFormat>
  <Paragraphs>263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Calibri(Body)</vt:lpstr>
      <vt:lpstr>Cambria</vt:lpstr>
      <vt:lpstr>Consolas</vt:lpstr>
      <vt:lpstr>Courier New</vt:lpstr>
      <vt:lpstr>Times New Roman</vt:lpstr>
      <vt:lpstr>Verdana</vt:lpstr>
      <vt:lpstr>Wingdings</vt:lpstr>
      <vt:lpstr>SlideMaster_TrungKien</vt:lpstr>
      <vt:lpstr>CẤU TRÚC LẶP</vt:lpstr>
      <vt:lpstr>NỘI DUNG</vt:lpstr>
      <vt:lpstr>Vòng lặp while</vt:lpstr>
      <vt:lpstr>Vòng lặp while</vt:lpstr>
      <vt:lpstr>Vòng lặp while</vt:lpstr>
      <vt:lpstr>Vòng lặp while</vt:lpstr>
      <vt:lpstr>Lệnh while...else</vt:lpstr>
      <vt:lpstr>Lệnh while...else</vt:lpstr>
      <vt:lpstr>2. Vòng lặp for</vt:lpstr>
      <vt:lpstr>2. Vòng lặp for</vt:lpstr>
      <vt:lpstr>2. Vòng lặp for</vt:lpstr>
      <vt:lpstr>2. Vòng lặp for</vt:lpstr>
      <vt:lpstr>2. Vòng lặp for</vt:lpstr>
      <vt:lpstr>2. Vòng lặp for</vt:lpstr>
      <vt:lpstr>2. Vòng lặp for</vt:lpstr>
      <vt:lpstr>2. Vòng lặp for</vt:lpstr>
      <vt:lpstr>3. Lệnh break</vt:lpstr>
      <vt:lpstr>3. Lệnh break</vt:lpstr>
      <vt:lpstr>4. Lệnh continue</vt:lpstr>
      <vt:lpstr>4. Lệnh continue</vt:lpstr>
      <vt:lpstr>4. Lệnh continue</vt:lpstr>
      <vt:lpstr>5. Vòng lặp lồng nhau</vt:lpstr>
      <vt:lpstr>5. Vòng lặp lồng nhau</vt:lpstr>
      <vt:lpstr>5. Vòng lặp lồng nhau</vt:lpstr>
      <vt:lpstr>6. Bài tập</vt:lpstr>
      <vt:lpstr>6. Bài tập</vt:lpstr>
      <vt:lpstr>6. Bài tập</vt:lpstr>
      <vt:lpstr>6. Bài tập về nhà</vt:lpstr>
      <vt:lpstr>6. Bài tập về nhà</vt:lpstr>
      <vt:lpstr>6. Bài tập về nhà</vt:lpstr>
      <vt:lpstr>6. Bài tập về nhà</vt:lpstr>
      <vt:lpstr>FAQ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Trung Kien</dc:creator>
  <cp:lastModifiedBy>Lê Thị Hồng Nga</cp:lastModifiedBy>
  <cp:revision>340</cp:revision>
  <dcterms:created xsi:type="dcterms:W3CDTF">2007-08-28T06:01:43Z</dcterms:created>
  <dcterms:modified xsi:type="dcterms:W3CDTF">2025-09-20T07:12:04Z</dcterms:modified>
</cp:coreProperties>
</file>