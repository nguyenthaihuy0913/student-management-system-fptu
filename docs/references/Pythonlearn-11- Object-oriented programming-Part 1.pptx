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Gill Sans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gZh0hYY2MLfDs1AnXDoEyNQx1s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GillSans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GillSa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the acknowledgement page(s) at the end.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2102be12cc_5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0" name="Google Shape;30;g32102be12cc_5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:notes"/>
          <p:cNvSpPr txBox="1"/>
          <p:nvPr>
            <p:ph idx="1" type="body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7" name="Google Shape;3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2102be12cc_2_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4" name="Google Shape;44;g32102be12cc_2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2102be12cc_2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1" name="Google Shape;51;g32102be12cc_2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102be12cc_2_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8" name="Google Shape;58;g32102be12cc_2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2102be12cc_2_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5" name="Google Shape;65;g32102be12cc_2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2102be12cc_2_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3" name="Google Shape;73;g32102be12cc_2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2102be12cc_2_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1" name="Google Shape;81;g32102be12cc_2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2102be12cc_7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8" name="Google Shape;88;g32102be12cc_7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2102be12cc_7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5" name="Google Shape;95;g32102be12cc_7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2102be12cc_7_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2" name="Google Shape;102;g32102be12cc_7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2102be12cc_2_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9" name="Google Shape;109;g32102be12cc_2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2102be12cc_2_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6" name="Google Shape;116;g32102be12cc_2_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21edc1876c_1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3" name="Google Shape;123;g321edc1876c_1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21edc1876c_1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1" name="Google Shape;131;g321edc1876c_1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21edc1876c_1_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9" name="Google Shape;139;g321edc1876c_1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2102be12cc_2_9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7" name="Google Shape;147;g32102be12cc_2_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2102be12cc_5_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6" name="Google Shape;156;g32102be12cc_5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102be12cc_2_1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4" name="Google Shape;164;g32102be12cc_2_1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2102be12cc_2_10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1" name="Google Shape;171;g32102be12cc_2_1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2102be12cc_5_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8" name="Google Shape;178;g32102be12cc_5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2102be12cc_5_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6" name="Google Shape;186;g32102be12cc_5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2102be12cc_5_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3" name="Google Shape;193;g32102be12cc_5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2102be12cc_2_1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0" name="Google Shape;200;g32102be12cc_2_1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2102be12cc_2_1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7" name="Google Shape;207;g32102be12cc_2_1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2102be12cc_2_1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4" name="Google Shape;214;g32102be12cc_2_1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2102be12cc_2_1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1" name="Google Shape;221;g32102be12cc_2_1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2102be12cc_2_1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8" name="Google Shape;228;g32102be12cc_2_1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2102be12cc_2_1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5" name="Google Shape;235;g32102be12cc_2_1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2102be12cc_2_17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2" name="Google Shape;242;g32102be12cc_2_1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pen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9"/>
          <p:cNvSpPr txBox="1"/>
          <p:nvPr>
            <p:ph type="title"/>
          </p:nvPr>
        </p:nvSpPr>
        <p:spPr>
          <a:xfrm>
            <a:off x="650081" y="864394"/>
            <a:ext cx="7836694" cy="173593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9"/>
          <p:cNvSpPr txBox="1"/>
          <p:nvPr>
            <p:ph idx="1" type="body"/>
          </p:nvPr>
        </p:nvSpPr>
        <p:spPr>
          <a:xfrm>
            <a:off x="650081" y="2650331"/>
            <a:ext cx="7836694" cy="59293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/>
            </a:lvl5pPr>
            <a:lvl6pPr indent="-228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/>
            </a:lvl6pPr>
            <a:lvl7pPr indent="-228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/>
            </a:lvl7pPr>
            <a:lvl8pPr indent="-228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/>
            </a:lvl8pPr>
            <a:lvl9pPr indent="-228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/>
            </a:lvl9pPr>
          </a:lstStyle>
          <a:p/>
        </p:txBody>
      </p:sp>
      <p:sp>
        <p:nvSpPr>
          <p:cNvPr id="14" name="Google Shape;14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0"/>
          <p:cNvSpPr txBox="1"/>
          <p:nvPr>
            <p:ph type="title"/>
          </p:nvPr>
        </p:nvSpPr>
        <p:spPr>
          <a:xfrm>
            <a:off x="650081" y="428625"/>
            <a:ext cx="7836750" cy="1000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0"/>
          <p:cNvSpPr txBox="1"/>
          <p:nvPr>
            <p:ph idx="1" type="body"/>
          </p:nvPr>
        </p:nvSpPr>
        <p:spPr>
          <a:xfrm>
            <a:off x="650081" y="1464469"/>
            <a:ext cx="7836750" cy="32075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1969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bin"/>
              <a:buChar char="•"/>
              <a:defRPr sz="3200"/>
            </a:lvl1pPr>
            <a:lvl2pPr indent="-278637" lvl="1" marL="914400" algn="l">
              <a:lnSpc>
                <a:spcPct val="100000"/>
              </a:lnSpc>
              <a:spcBef>
                <a:spcPts val="1969"/>
              </a:spcBef>
              <a:spcAft>
                <a:spcPts val="0"/>
              </a:spcAft>
              <a:buClr>
                <a:schemeClr val="lt1"/>
              </a:buClr>
              <a:buSzPts val="788"/>
              <a:buFont typeface="Cabin"/>
              <a:buChar char="•"/>
              <a:defRPr/>
            </a:lvl2pPr>
            <a:lvl3pPr indent="-278638" lvl="2" marL="1371600" algn="l">
              <a:lnSpc>
                <a:spcPct val="100000"/>
              </a:lnSpc>
              <a:spcBef>
                <a:spcPts val="1969"/>
              </a:spcBef>
              <a:spcAft>
                <a:spcPts val="0"/>
              </a:spcAft>
              <a:buClr>
                <a:schemeClr val="lt1"/>
              </a:buClr>
              <a:buSzPts val="788"/>
              <a:buFont typeface="Cabin"/>
              <a:buChar char="•"/>
              <a:defRPr/>
            </a:lvl3pPr>
            <a:lvl4pPr indent="-278638" lvl="3" marL="1828800" algn="l">
              <a:lnSpc>
                <a:spcPct val="100000"/>
              </a:lnSpc>
              <a:spcBef>
                <a:spcPts val="1969"/>
              </a:spcBef>
              <a:spcAft>
                <a:spcPts val="0"/>
              </a:spcAft>
              <a:buClr>
                <a:schemeClr val="lt1"/>
              </a:buClr>
              <a:buSzPts val="788"/>
              <a:buFont typeface="Cabin"/>
              <a:buChar char="•"/>
              <a:defRPr/>
            </a:lvl4pPr>
            <a:lvl5pPr indent="-278638" lvl="4" marL="2286000" algn="l">
              <a:lnSpc>
                <a:spcPct val="100000"/>
              </a:lnSpc>
              <a:spcBef>
                <a:spcPts val="1969"/>
              </a:spcBef>
              <a:spcAft>
                <a:spcPts val="0"/>
              </a:spcAft>
              <a:buClr>
                <a:schemeClr val="lt1"/>
              </a:buClr>
              <a:buSzPts val="788"/>
              <a:buFont typeface="Cabin"/>
              <a:buChar char="•"/>
              <a:defRPr/>
            </a:lvl5pPr>
            <a:lvl6pPr indent="-278638" lvl="5" marL="2743200" algn="l">
              <a:lnSpc>
                <a:spcPct val="100000"/>
              </a:lnSpc>
              <a:spcBef>
                <a:spcPts val="1969"/>
              </a:spcBef>
              <a:spcAft>
                <a:spcPts val="0"/>
              </a:spcAft>
              <a:buClr>
                <a:schemeClr val="lt1"/>
              </a:buClr>
              <a:buSzPts val="788"/>
              <a:buFont typeface="Cabin"/>
              <a:buChar char="•"/>
              <a:defRPr/>
            </a:lvl6pPr>
            <a:lvl7pPr indent="-278638" lvl="6" marL="3200400" algn="l">
              <a:lnSpc>
                <a:spcPct val="100000"/>
              </a:lnSpc>
              <a:spcBef>
                <a:spcPts val="1969"/>
              </a:spcBef>
              <a:spcAft>
                <a:spcPts val="0"/>
              </a:spcAft>
              <a:buClr>
                <a:schemeClr val="lt1"/>
              </a:buClr>
              <a:buSzPts val="788"/>
              <a:buFont typeface="Cabin"/>
              <a:buChar char="•"/>
              <a:defRPr/>
            </a:lvl7pPr>
            <a:lvl8pPr indent="-278638" lvl="7" marL="3657600" algn="l">
              <a:lnSpc>
                <a:spcPct val="100000"/>
              </a:lnSpc>
              <a:spcBef>
                <a:spcPts val="1969"/>
              </a:spcBef>
              <a:spcAft>
                <a:spcPts val="0"/>
              </a:spcAft>
              <a:buClr>
                <a:schemeClr val="lt1"/>
              </a:buClr>
              <a:buSzPts val="788"/>
              <a:buFont typeface="Cabin"/>
              <a:buChar char="•"/>
              <a:defRPr/>
            </a:lvl8pPr>
            <a:lvl9pPr indent="-278638" lvl="8" marL="4114800" algn="l">
              <a:lnSpc>
                <a:spcPct val="100000"/>
              </a:lnSpc>
              <a:spcBef>
                <a:spcPts val="1969"/>
              </a:spcBef>
              <a:spcAft>
                <a:spcPts val="0"/>
              </a:spcAft>
              <a:buClr>
                <a:schemeClr val="lt1"/>
              </a:buClr>
              <a:buSzPts val="788"/>
              <a:buFont typeface="Cabin"/>
              <a:buChar char="•"/>
              <a:defRPr/>
            </a:lvl9pPr>
          </a:lstStyle>
          <a:p/>
        </p:txBody>
      </p:sp>
      <p:sp>
        <p:nvSpPr>
          <p:cNvPr id="18" name="Google Shape;18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le Only">
  <p:cSld name="Ttle 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2"/>
          <p:cNvSpPr txBox="1"/>
          <p:nvPr>
            <p:ph type="title"/>
          </p:nvPr>
        </p:nvSpPr>
        <p:spPr>
          <a:xfrm>
            <a:off x="650081" y="428625"/>
            <a:ext cx="7836750" cy="1000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8"/>
          <p:cNvSpPr txBox="1"/>
          <p:nvPr>
            <p:ph type="title"/>
          </p:nvPr>
        </p:nvSpPr>
        <p:spPr>
          <a:xfrm>
            <a:off x="650081" y="864394"/>
            <a:ext cx="7836694" cy="173593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 b="0" i="0" sz="7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8"/>
          <p:cNvSpPr txBox="1"/>
          <p:nvPr>
            <p:ph idx="1" type="body"/>
          </p:nvPr>
        </p:nvSpPr>
        <p:spPr>
          <a:xfrm>
            <a:off x="650081" y="2650331"/>
            <a:ext cx="7836694" cy="59293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 b="0" i="0" sz="7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 b="0" i="0" sz="7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 b="0" i="0" sz="7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 b="0" i="0" sz="7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 b="0" i="0" sz="7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 b="0" i="0" sz="7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 b="0" i="0" sz="7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 b="0" i="0" sz="7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  <a:defRPr b="0" i="0" sz="7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8"/>
          <p:cNvSpPr/>
          <p:nvPr/>
        </p:nvSpPr>
        <p:spPr>
          <a:xfrm>
            <a:off x="0" y="0"/>
            <a:ext cx="9144000" cy="43205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Gill Sans"/>
              <a:buNone/>
            </a:pPr>
            <a:r>
              <a:t/>
            </a:r>
            <a:endParaRPr b="0" i="0" sz="2025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" name="Google Shape;9;p48"/>
          <p:cNvSpPr/>
          <p:nvPr/>
        </p:nvSpPr>
        <p:spPr>
          <a:xfrm>
            <a:off x="0" y="4701159"/>
            <a:ext cx="9144000" cy="44234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Gill Sans"/>
              <a:buNone/>
            </a:pPr>
            <a:r>
              <a:t/>
            </a:r>
            <a:endParaRPr b="0" i="0" sz="2025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" name="Google Shape;10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/>
            </a:lvl1pPr>
            <a:lvl2pPr lvl="1" algn="r">
              <a:buNone/>
              <a:defRPr sz="1300"/>
            </a:lvl2pPr>
            <a:lvl3pPr lvl="2" algn="r">
              <a:buNone/>
              <a:defRPr sz="1300"/>
            </a:lvl3pPr>
            <a:lvl4pPr lvl="3" algn="r">
              <a:buNone/>
              <a:defRPr sz="1300"/>
            </a:lvl4pPr>
            <a:lvl5pPr lvl="4" algn="r">
              <a:buNone/>
              <a:defRPr sz="1300"/>
            </a:lvl5pPr>
            <a:lvl6pPr lvl="5" algn="r">
              <a:buNone/>
              <a:defRPr sz="1300"/>
            </a:lvl6pPr>
            <a:lvl7pPr lvl="6" algn="r">
              <a:buNone/>
              <a:defRPr sz="1300"/>
            </a:lvl7pPr>
            <a:lvl8pPr lvl="7" algn="r">
              <a:buNone/>
              <a:defRPr sz="1300"/>
            </a:lvl8pPr>
            <a:lvl9pPr lvl="8" algn="r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docs.python.org" TargetMode="External"/><Relationship Id="rId4" Type="http://schemas.openxmlformats.org/officeDocument/2006/relationships/hyperlink" Target="https://www.py4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title"/>
          </p:nvPr>
        </p:nvSpPr>
        <p:spPr>
          <a:xfrm>
            <a:off x="650075" y="864400"/>
            <a:ext cx="8315700" cy="2472600"/>
          </a:xfrm>
          <a:prstGeom prst="rect">
            <a:avLst/>
          </a:prstGeom>
          <a:noFill/>
          <a:ln>
            <a:noFill/>
          </a:ln>
        </p:spPr>
        <p:txBody>
          <a:bodyPr anchorCtr="0" anchor="b" bIns="21050" lIns="21050" spcFirstLastPara="1" rIns="21050" wrap="square" tIns="2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Fundamentals of Object-Oriented Programming (OOP)</a:t>
            </a:r>
            <a:endParaRPr/>
          </a:p>
        </p:txBody>
      </p:sp>
      <p:sp>
        <p:nvSpPr>
          <p:cNvPr id="27" name="Google Shape;27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2102be12cc_5_5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Why Learn OOP?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33" name="Google Shape;33;g32102be12cc_5_5"/>
          <p:cNvSpPr txBox="1"/>
          <p:nvPr>
            <p:ph idx="1" type="body"/>
          </p:nvPr>
        </p:nvSpPr>
        <p:spPr>
          <a:xfrm>
            <a:off x="650075" y="1569450"/>
            <a:ext cx="67977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Example: How managing student data at FPT University efficiently ?</a:t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34" name="Google Shape;34;g32102be12cc_5_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650081" y="428625"/>
            <a:ext cx="7836750" cy="1000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Why Learn OOP?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650075" y="1569450"/>
            <a:ext cx="67977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Helps design modular, reusable, and maintainable code.</a:t>
            </a:r>
            <a:endParaRPr sz="2300">
              <a:solidFill>
                <a:srgbClr val="FFFFFF"/>
              </a:solidFill>
            </a:endParaRPr>
          </a:p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Widely used in industries like software development, AI, and IoT.</a:t>
            </a:r>
            <a:endParaRPr sz="2300">
              <a:solidFill>
                <a:srgbClr val="FFFFFF"/>
              </a:solidFill>
            </a:endParaRPr>
          </a:p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Enhances your ability to model real-world problems programmatically.</a:t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2102be12cc_2_16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Key Principles of OOP</a:t>
            </a:r>
            <a:endParaRPr sz="4700">
              <a:solidFill>
                <a:srgbClr val="FFD966"/>
              </a:solidFill>
            </a:endParaRPr>
          </a:p>
        </p:txBody>
      </p:sp>
      <p:pic>
        <p:nvPicPr>
          <p:cNvPr id="47" name="Google Shape;47;g32102be12cc_2_16"/>
          <p:cNvPicPr preferRelativeResize="0"/>
          <p:nvPr/>
        </p:nvPicPr>
        <p:blipFill rotWithShape="1">
          <a:blip r:embed="rId3">
            <a:alphaModFix/>
          </a:blip>
          <a:srcRect b="0" l="0" r="0" t="31815"/>
          <a:stretch/>
        </p:blipFill>
        <p:spPr>
          <a:xfrm>
            <a:off x="1290000" y="1897950"/>
            <a:ext cx="6819750" cy="232502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g32102be12cc_2_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2102be12cc_2_9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Key Principles of OOP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54" name="Google Shape;54;g32102be12cc_2_9"/>
          <p:cNvSpPr txBox="1"/>
          <p:nvPr>
            <p:ph idx="1" type="body"/>
          </p:nvPr>
        </p:nvSpPr>
        <p:spPr>
          <a:xfrm>
            <a:off x="650075" y="1569450"/>
            <a:ext cx="77700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Encapsulation: Protecting data by bundling it with methods.</a:t>
            </a:r>
            <a:endParaRPr sz="2300">
              <a:solidFill>
                <a:srgbClr val="FFFFFF"/>
              </a:solidFill>
            </a:endParaRPr>
          </a:p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Abstraction: Hiding unnecessary details from the user.</a:t>
            </a:r>
            <a:endParaRPr sz="2300">
              <a:solidFill>
                <a:srgbClr val="FFFFFF"/>
              </a:solidFill>
            </a:endParaRPr>
          </a:p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Inheritance: Creating new classes from existing ones.</a:t>
            </a:r>
            <a:endParaRPr sz="2300">
              <a:solidFill>
                <a:srgbClr val="FFFFFF"/>
              </a:solidFill>
            </a:endParaRPr>
          </a:p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Polymorphism: Allowing different classes to respond to the same function call.</a:t>
            </a:r>
            <a:endParaRPr sz="2300">
              <a:solidFill>
                <a:srgbClr val="FFFFFF"/>
              </a:solidFill>
            </a:endParaRPr>
          </a:p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t/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55" name="Google Shape;55;g32102be12cc_2_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2102be12cc_2_22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Real-World Analogy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61" name="Google Shape;61;g32102be12cc_2_22"/>
          <p:cNvSpPr txBox="1"/>
          <p:nvPr>
            <p:ph idx="1" type="body"/>
          </p:nvPr>
        </p:nvSpPr>
        <p:spPr>
          <a:xfrm>
            <a:off x="650075" y="1569450"/>
            <a:ext cx="77700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A class is a blueprint for creating objects.</a:t>
            </a:r>
            <a:endParaRPr sz="2300">
              <a:solidFill>
                <a:srgbClr val="FFFFFF"/>
              </a:solidFill>
            </a:endParaRPr>
          </a:p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Example:</a:t>
            </a:r>
            <a:endParaRPr sz="2300">
              <a:solidFill>
                <a:srgbClr val="FFFFFF"/>
              </a:solidFill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Class: 			Student</a:t>
            </a:r>
            <a:endParaRPr sz="2300">
              <a:solidFill>
                <a:srgbClr val="FFFFFF"/>
              </a:solidFill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Objects: 		"Nam (AI19b02)"</a:t>
            </a:r>
            <a:endParaRPr sz="2300">
              <a:solidFill>
                <a:srgbClr val="FFFFFF"/>
              </a:solidFill>
            </a:endParaRPr>
          </a:p>
          <a:p>
            <a:pPr indent="457200" lvl="0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"Mai (SE22b01)"</a:t>
            </a:r>
            <a:endParaRPr sz="23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62" name="Google Shape;62;g32102be12cc_2_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2102be12cc_2_29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What is a Class?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68" name="Google Shape;68;g32102be12cc_2_29"/>
          <p:cNvSpPr txBox="1"/>
          <p:nvPr>
            <p:ph idx="1" type="body"/>
          </p:nvPr>
        </p:nvSpPr>
        <p:spPr>
          <a:xfrm>
            <a:off x="650075" y="1569450"/>
            <a:ext cx="77700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A class is a user-defined data type that acts as a blueprint for creating objects.</a:t>
            </a:r>
            <a:endParaRPr sz="23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69" name="Google Shape;69;g32102be12cc_2_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" name="Google Shape;70;g32102be12cc_2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2625" y="2704100"/>
            <a:ext cx="4749051" cy="231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2102be12cc_2_41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What is an Object?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76" name="Google Shape;76;g32102be12cc_2_41"/>
          <p:cNvSpPr txBox="1"/>
          <p:nvPr>
            <p:ph idx="1" type="body"/>
          </p:nvPr>
        </p:nvSpPr>
        <p:spPr>
          <a:xfrm>
            <a:off x="650075" y="1569450"/>
            <a:ext cx="77700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An object is an instance of a class.</a:t>
            </a:r>
            <a:endParaRPr sz="23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</p:txBody>
      </p:sp>
      <p:pic>
        <p:nvPicPr>
          <p:cNvPr id="77" name="Google Shape;77;g32102be12cc_2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7575" y="2663074"/>
            <a:ext cx="6992491" cy="10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2102be12cc_2_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2102be12cc_2_52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Practical Applications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84" name="Google Shape;84;g32102be12cc_2_52"/>
          <p:cNvSpPr txBox="1"/>
          <p:nvPr>
            <p:ph idx="1" type="body"/>
          </p:nvPr>
        </p:nvSpPr>
        <p:spPr>
          <a:xfrm>
            <a:off x="650075" y="1569450"/>
            <a:ext cx="77700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Example:</a:t>
            </a:r>
            <a:endParaRPr sz="2300">
              <a:solidFill>
                <a:srgbClr val="FFFFFF"/>
              </a:solidFill>
            </a:endParaRPr>
          </a:p>
          <a:p>
            <a:pPr indent="0" lvl="0" marL="400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Managing student records at FPT University:</a:t>
            </a:r>
            <a:endParaRPr sz="2300">
              <a:solidFill>
                <a:srgbClr val="FFFFFF"/>
              </a:solidFill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  <a:p>
            <a:pPr indent="0" lvl="0" marL="132159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300">
                <a:solidFill>
                  <a:srgbClr val="FFFFFF"/>
                </a:solidFill>
              </a:rPr>
              <a:t>Student</a:t>
            </a:r>
            <a:r>
              <a:rPr lang="en" sz="2300">
                <a:solidFill>
                  <a:srgbClr val="FFFFFF"/>
                </a:solidFill>
              </a:rPr>
              <a:t> class for student details.</a:t>
            </a:r>
            <a:endParaRPr sz="2300">
              <a:solidFill>
                <a:srgbClr val="FFFFFF"/>
              </a:solidFill>
            </a:endParaRPr>
          </a:p>
          <a:p>
            <a:pPr indent="0" lvl="0" marL="132159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300">
                <a:solidFill>
                  <a:srgbClr val="FFFFFF"/>
                </a:solidFill>
              </a:rPr>
              <a:t>Course</a:t>
            </a:r>
            <a:r>
              <a:rPr lang="en" sz="2300">
                <a:solidFill>
                  <a:srgbClr val="FFFFFF"/>
                </a:solidFill>
              </a:rPr>
              <a:t> class for course information.</a:t>
            </a:r>
            <a:endParaRPr sz="2300">
              <a:solidFill>
                <a:srgbClr val="FFFFFF"/>
              </a:solidFill>
            </a:endParaRPr>
          </a:p>
          <a:p>
            <a:pPr indent="0" lvl="0" marL="132159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300">
                <a:solidFill>
                  <a:srgbClr val="FFFFFF"/>
                </a:solidFill>
              </a:rPr>
              <a:t>Grade</a:t>
            </a:r>
            <a:r>
              <a:rPr lang="en" sz="2300">
                <a:solidFill>
                  <a:srgbClr val="FFFFFF"/>
                </a:solidFill>
              </a:rPr>
              <a:t> class for student grades.</a:t>
            </a:r>
            <a:endParaRPr sz="23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85" name="Google Shape;85;g32102be12cc_2_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2102be12cc_7_0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What is the Object Lifecycle?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91" name="Google Shape;91;g32102be12cc_7_0"/>
          <p:cNvSpPr txBox="1"/>
          <p:nvPr>
            <p:ph idx="1" type="body"/>
          </p:nvPr>
        </p:nvSpPr>
        <p:spPr>
          <a:xfrm>
            <a:off x="650075" y="1569450"/>
            <a:ext cx="77700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The Object Lifecycle consists of three main stages:</a:t>
            </a:r>
            <a:endParaRPr sz="2300">
              <a:solidFill>
                <a:srgbClr val="FFFFFF"/>
              </a:solidFill>
            </a:endParaRPr>
          </a:p>
          <a:p>
            <a:pPr indent="57150" lvl="0" marL="857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  <a:p>
            <a:pPr indent="57150" lvl="0" marL="1314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Creation: When an object is instantiated using the __init__ method.</a:t>
            </a:r>
            <a:endParaRPr sz="2300">
              <a:solidFill>
                <a:srgbClr val="FFFFFF"/>
              </a:solidFill>
            </a:endParaRPr>
          </a:p>
          <a:p>
            <a:pPr indent="57150" lvl="0" marL="1314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Usage: When the object is used in a program (accessing attributes, calling methods).</a:t>
            </a:r>
            <a:endParaRPr sz="2300">
              <a:solidFill>
                <a:srgbClr val="FFFFFF"/>
              </a:solidFill>
            </a:endParaRPr>
          </a:p>
          <a:p>
            <a:pPr indent="57150" lvl="0" marL="1314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Destruction: When the object is deleted or goes out of scope, triggering the __del__ method (if defined).</a:t>
            </a:r>
            <a:endParaRPr sz="2300">
              <a:solidFill>
                <a:srgbClr val="FFFFFF"/>
              </a:solidFill>
            </a:endParaRPr>
          </a:p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t/>
            </a:r>
            <a:endParaRPr sz="2300">
              <a:solidFill>
                <a:srgbClr val="FFFFFF"/>
              </a:solidFill>
            </a:endParaRPr>
          </a:p>
          <a:p>
            <a:pPr indent="-22225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Char char="•"/>
            </a:pPr>
            <a:r>
              <a:t/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92" name="Google Shape;92;g32102be12cc_7_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2102be12cc_7_12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What is the Object Lifecycle?</a:t>
            </a:r>
            <a:endParaRPr sz="4700">
              <a:solidFill>
                <a:srgbClr val="FFD966"/>
              </a:solidFill>
            </a:endParaRPr>
          </a:p>
        </p:txBody>
      </p:sp>
      <p:pic>
        <p:nvPicPr>
          <p:cNvPr id="98" name="Google Shape;98;g32102be12cc_7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800" y="1713200"/>
            <a:ext cx="7510502" cy="25377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32102be12cc_7_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2102be12cc_7_18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What is the Object Lifecycle?</a:t>
            </a:r>
            <a:endParaRPr sz="4700">
              <a:solidFill>
                <a:srgbClr val="FFD966"/>
              </a:solidFill>
            </a:endParaRPr>
          </a:p>
        </p:txBody>
      </p:sp>
      <p:pic>
        <p:nvPicPr>
          <p:cNvPr id="105" name="Google Shape;105;g32102be12cc_7_18"/>
          <p:cNvPicPr preferRelativeResize="0"/>
          <p:nvPr/>
        </p:nvPicPr>
        <p:blipFill rotWithShape="1">
          <a:blip r:embed="rId3">
            <a:alphaModFix/>
          </a:blip>
          <a:srcRect b="0" l="0" r="0" t="4058"/>
          <a:stretch/>
        </p:blipFill>
        <p:spPr>
          <a:xfrm>
            <a:off x="1208925" y="1829875"/>
            <a:ext cx="7346099" cy="243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2102be12cc_7_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2102be12cc_2_60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What is Encapsulation?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112" name="Google Shape;112;g32102be12cc_2_60"/>
          <p:cNvSpPr txBox="1"/>
          <p:nvPr>
            <p:ph idx="1" type="body"/>
          </p:nvPr>
        </p:nvSpPr>
        <p:spPr>
          <a:xfrm>
            <a:off x="650075" y="1569450"/>
            <a:ext cx="77700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Encapsulation means bundling data and methods into a single unit and restricting access to some of the object's components.</a:t>
            </a:r>
            <a:endParaRPr sz="23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113" name="Google Shape;113;g32102be12cc_2_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2102be12cc_2_68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Access Modifiers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119" name="Google Shape;119;g32102be12cc_2_68"/>
          <p:cNvSpPr txBox="1"/>
          <p:nvPr>
            <p:ph idx="1" type="body"/>
          </p:nvPr>
        </p:nvSpPr>
        <p:spPr>
          <a:xfrm>
            <a:off x="650075" y="1569450"/>
            <a:ext cx="77700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Public: Accessible everywhere.</a:t>
            </a:r>
            <a:endParaRPr sz="2300">
              <a:solidFill>
                <a:srgbClr val="FFFFFF"/>
              </a:solidFill>
            </a:endParaRPr>
          </a:p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Private: Accessible only within the class.</a:t>
            </a:r>
            <a:endParaRPr sz="2300">
              <a:solidFill>
                <a:srgbClr val="FFFFFF"/>
              </a:solidFill>
            </a:endParaRPr>
          </a:p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Protected: Accessible within the class and subclasses.</a:t>
            </a:r>
            <a:endParaRPr sz="23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120" name="Google Shape;120;g32102be12cc_2_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1edc1876c_1_1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Access Modifiers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126" name="Google Shape;126;g321edc1876c_1_1"/>
          <p:cNvSpPr txBox="1"/>
          <p:nvPr>
            <p:ph idx="1" type="body"/>
          </p:nvPr>
        </p:nvSpPr>
        <p:spPr>
          <a:xfrm>
            <a:off x="650075" y="1569450"/>
            <a:ext cx="77700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Public: Accessible everywhere.</a:t>
            </a:r>
            <a:endParaRPr sz="23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127" name="Google Shape;127;g321edc1876c_1_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8" name="Google Shape;128;g321edc1876c_1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3225" y="2467276"/>
            <a:ext cx="5068600" cy="166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1edc1876c_1_15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Access Modifiers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134" name="Google Shape;134;g321edc1876c_1_15"/>
          <p:cNvSpPr txBox="1"/>
          <p:nvPr>
            <p:ph idx="1" type="body"/>
          </p:nvPr>
        </p:nvSpPr>
        <p:spPr>
          <a:xfrm>
            <a:off x="650075" y="1569450"/>
            <a:ext cx="77700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Private: Accessible only within the class.</a:t>
            </a:r>
            <a:endParaRPr sz="23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135" name="Google Shape;135;g321edc1876c_1_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6" name="Google Shape;136;g321edc1876c_1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1250" y="2321075"/>
            <a:ext cx="6797501" cy="233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21edc1876c_1_21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Access Modifiers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142" name="Google Shape;142;g321edc1876c_1_21"/>
          <p:cNvSpPr txBox="1"/>
          <p:nvPr>
            <p:ph idx="1" type="body"/>
          </p:nvPr>
        </p:nvSpPr>
        <p:spPr>
          <a:xfrm>
            <a:off x="650075" y="1569450"/>
            <a:ext cx="77700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Protected: Accessible within the class and subclasses.</a:t>
            </a:r>
            <a:endParaRPr sz="23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143" name="Google Shape;143;g321edc1876c_1_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4" name="Google Shape;144;g321edc1876c_1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1375" y="2313778"/>
            <a:ext cx="5980575" cy="2636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2102be12cc_2_91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Getters and Setters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150" name="Google Shape;150;g32102be12cc_2_91"/>
          <p:cNvSpPr txBox="1"/>
          <p:nvPr>
            <p:ph idx="1" type="body"/>
          </p:nvPr>
        </p:nvSpPr>
        <p:spPr>
          <a:xfrm>
            <a:off x="650075" y="1569450"/>
            <a:ext cx="77700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Modifying a student's grade securely.</a:t>
            </a:r>
            <a:endParaRPr sz="2300">
              <a:solidFill>
                <a:srgbClr val="FFFFFF"/>
              </a:solidFill>
            </a:endParaRPr>
          </a:p>
        </p:txBody>
      </p:sp>
      <p:pic>
        <p:nvPicPr>
          <p:cNvPr id="151" name="Google Shape;151;g32102be12cc_2_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9900" y="2284478"/>
            <a:ext cx="5454651" cy="2736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32102be12cc_2_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0775" y="2284475"/>
            <a:ext cx="5672893" cy="273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2102be12cc_2_9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2102be12cc_5_21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Getters and Setters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159" name="Google Shape;159;g32102be12cc_5_21"/>
          <p:cNvSpPr txBox="1"/>
          <p:nvPr>
            <p:ph idx="1" type="body"/>
          </p:nvPr>
        </p:nvSpPr>
        <p:spPr>
          <a:xfrm>
            <a:off x="650075" y="1569450"/>
            <a:ext cx="77700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Modifying a student's grade securely.</a:t>
            </a:r>
            <a:endParaRPr sz="2300">
              <a:solidFill>
                <a:srgbClr val="FFFFFF"/>
              </a:solidFill>
            </a:endParaRPr>
          </a:p>
        </p:txBody>
      </p:sp>
      <p:pic>
        <p:nvPicPr>
          <p:cNvPr id="160" name="Google Shape;160;g32102be12cc_5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4399" y="2435925"/>
            <a:ext cx="6428249" cy="247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2102be12cc_5_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2102be12cc_2_100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What is Abstraction?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167" name="Google Shape;167;g32102be12cc_2_100"/>
          <p:cNvSpPr txBox="1"/>
          <p:nvPr>
            <p:ph idx="1" type="body"/>
          </p:nvPr>
        </p:nvSpPr>
        <p:spPr>
          <a:xfrm>
            <a:off x="650075" y="1569450"/>
            <a:ext cx="77700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Abstraction focuses on hiding implementation details and exposing only the essential features to the user.</a:t>
            </a:r>
            <a:endParaRPr sz="2300">
              <a:solidFill>
                <a:srgbClr val="FFFFFF"/>
              </a:solidFill>
            </a:endParaRPr>
          </a:p>
          <a:p>
            <a:pPr indent="0" lvl="0" marL="400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168" name="Google Shape;168;g32102be12cc_2_10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2102be12cc_2_108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Examples of Abstraction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174" name="Google Shape;174;g32102be12cc_2_108"/>
          <p:cNvSpPr txBox="1"/>
          <p:nvPr>
            <p:ph idx="1" type="body"/>
          </p:nvPr>
        </p:nvSpPr>
        <p:spPr>
          <a:xfrm>
            <a:off x="650075" y="1569450"/>
            <a:ext cx="77700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Example:</a:t>
            </a:r>
            <a:endParaRPr sz="2300">
              <a:solidFill>
                <a:srgbClr val="FFFFFF"/>
              </a:solidFill>
            </a:endParaRPr>
          </a:p>
          <a:p>
            <a:pPr indent="0" lvl="0" marL="400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  <a:p>
            <a:pPr indent="57150" lvl="0" marL="13144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A StudentManagement system that abstracts the process of retrieving and managing student data.</a:t>
            </a:r>
            <a:endParaRPr sz="23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→Users interact with a simplified interface (e.g., "Get Grades") without knowing how data is fetched or processed internally.</a:t>
            </a:r>
            <a:endParaRPr sz="2300">
              <a:solidFill>
                <a:schemeClr val="lt1"/>
              </a:solidFill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175" name="Google Shape;175;g32102be12cc_2_10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2102be12cc_5_40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 Implementing Abstraction 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181" name="Google Shape;181;g32102be12cc_5_40"/>
          <p:cNvSpPr txBox="1"/>
          <p:nvPr>
            <p:ph idx="1" type="body"/>
          </p:nvPr>
        </p:nvSpPr>
        <p:spPr>
          <a:xfrm>
            <a:off x="650075" y="1569450"/>
            <a:ext cx="77700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Use of abstract base classes (ABCs) with the abc module.</a:t>
            </a:r>
            <a:endParaRPr sz="23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</p:txBody>
      </p:sp>
      <p:pic>
        <p:nvPicPr>
          <p:cNvPr id="182" name="Google Shape;182;g32102be12cc_5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4875" y="2713700"/>
            <a:ext cx="4987949" cy="226205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2102be12cc_5_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2102be12cc_5_46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 Using Abstraction </a:t>
            </a:r>
            <a:endParaRPr sz="4700">
              <a:solidFill>
                <a:srgbClr val="FFD966"/>
              </a:solidFill>
            </a:endParaRPr>
          </a:p>
        </p:txBody>
      </p:sp>
      <p:pic>
        <p:nvPicPr>
          <p:cNvPr id="189" name="Google Shape;189;g32102be12cc_5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988" y="1493725"/>
            <a:ext cx="6395080" cy="340987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32102be12cc_5_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2102be12cc_5_53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 Using Abstraction </a:t>
            </a:r>
            <a:endParaRPr sz="4700">
              <a:solidFill>
                <a:srgbClr val="FFD966"/>
              </a:solidFill>
            </a:endParaRPr>
          </a:p>
        </p:txBody>
      </p:sp>
      <p:pic>
        <p:nvPicPr>
          <p:cNvPr id="196" name="Google Shape;196;g32102be12cc_5_53"/>
          <p:cNvPicPr preferRelativeResize="0"/>
          <p:nvPr/>
        </p:nvPicPr>
        <p:blipFill rotWithShape="1">
          <a:blip r:embed="rId3">
            <a:alphaModFix/>
          </a:blip>
          <a:srcRect b="0" l="0" r="8958" t="0"/>
          <a:stretch/>
        </p:blipFill>
        <p:spPr>
          <a:xfrm>
            <a:off x="1812000" y="2006375"/>
            <a:ext cx="6674975" cy="190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2102be12cc_5_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2102be12cc_2_124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What is Modular Design? 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203" name="Google Shape;203;g32102be12cc_2_124"/>
          <p:cNvSpPr txBox="1"/>
          <p:nvPr>
            <p:ph idx="1" type="body"/>
          </p:nvPr>
        </p:nvSpPr>
        <p:spPr>
          <a:xfrm>
            <a:off x="650075" y="1569450"/>
            <a:ext cx="77700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Dividing a program into smaller modules to improve reusab</a:t>
            </a:r>
            <a:r>
              <a:rPr lang="en" sz="2300">
                <a:solidFill>
                  <a:srgbClr val="FFFFFF"/>
                </a:solidFill>
              </a:rPr>
              <a:t>ility and maintainability.</a:t>
            </a:r>
            <a:endParaRPr sz="2300">
              <a:solidFill>
                <a:srgbClr val="FFFFFF"/>
              </a:solidFill>
            </a:endParaRPr>
          </a:p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A student management system with modules for attendance, grades, and courses.</a:t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204" name="Google Shape;204;g32102be12cc_2_1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2102be12cc_2_134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 Benefits of Modular Design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210" name="Google Shape;210;g32102be12cc_2_134"/>
          <p:cNvSpPr txBox="1"/>
          <p:nvPr>
            <p:ph idx="1" type="body"/>
          </p:nvPr>
        </p:nvSpPr>
        <p:spPr>
          <a:xfrm>
            <a:off x="650075" y="1569450"/>
            <a:ext cx="77700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Code reuse across multiple projects.</a:t>
            </a:r>
            <a:endParaRPr sz="2300">
              <a:solidFill>
                <a:srgbClr val="FFFFFF"/>
              </a:solidFill>
            </a:endParaRPr>
          </a:p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Easier debugging and testing.</a:t>
            </a:r>
            <a:endParaRPr sz="2300">
              <a:solidFill>
                <a:srgbClr val="FFFFFF"/>
              </a:solidFill>
            </a:endParaRPr>
          </a:p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Simplifies collaboration among developers.</a:t>
            </a:r>
            <a:endParaRPr sz="2300">
              <a:solidFill>
                <a:srgbClr val="FFFFFF"/>
              </a:solidFill>
            </a:endParaRPr>
          </a:p>
          <a:p>
            <a:pPr indent="-69850" lvl="0" marL="400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</a:pPr>
            <a:r>
              <a:rPr lang="en" sz="2300">
                <a:solidFill>
                  <a:srgbClr val="FFFFFF"/>
                </a:solidFill>
              </a:rPr>
              <a:t>Pie chart: Benefits distribution (50% reusability, 30% maintainability, 20% debugging).</a:t>
            </a:r>
            <a:endParaRPr sz="23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211" name="Google Shape;211;g32102be12cc_2_1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2102be12cc_2_143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Example: Modular Program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217" name="Google Shape;217;g32102be12cc_2_143"/>
          <p:cNvSpPr txBox="1"/>
          <p:nvPr>
            <p:ph idx="1" type="body"/>
          </p:nvPr>
        </p:nvSpPr>
        <p:spPr>
          <a:xfrm>
            <a:off x="650075" y="1569450"/>
            <a:ext cx="77700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Code reuse across multiple projects.</a:t>
            </a:r>
            <a:endParaRPr sz="2300">
              <a:solidFill>
                <a:srgbClr val="FFFFFF"/>
              </a:solidFill>
            </a:endParaRPr>
          </a:p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Easier debugging and testing.</a:t>
            </a:r>
            <a:endParaRPr sz="2300">
              <a:solidFill>
                <a:srgbClr val="FFFFFF"/>
              </a:solidFill>
            </a:endParaRPr>
          </a:p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Simplifies collaboration among developers.</a:t>
            </a:r>
            <a:endParaRPr sz="2300">
              <a:solidFill>
                <a:srgbClr val="FFFFFF"/>
              </a:solidFill>
            </a:endParaRPr>
          </a:p>
          <a:p>
            <a:pPr indent="-69850" lvl="0" marL="400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</a:pPr>
            <a:r>
              <a:rPr lang="en" sz="2300">
                <a:solidFill>
                  <a:srgbClr val="FFFFFF"/>
                </a:solidFill>
              </a:rPr>
              <a:t>Pie chart: Benefits distribution (50% reusability, 30% maintainability, 20% debugging).</a:t>
            </a:r>
            <a:endParaRPr sz="23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218" name="Google Shape;218;g32102be12cc_2_1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2102be12cc_2_149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 Key Concepts Recap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224" name="Google Shape;224;g32102be12cc_2_149"/>
          <p:cNvSpPr txBox="1"/>
          <p:nvPr>
            <p:ph idx="1" type="body"/>
          </p:nvPr>
        </p:nvSpPr>
        <p:spPr>
          <a:xfrm>
            <a:off x="650075" y="1569450"/>
            <a:ext cx="77700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Classes and objects: Blueprints and instances.</a:t>
            </a:r>
            <a:endParaRPr sz="2300">
              <a:solidFill>
                <a:srgbClr val="FFFFFF"/>
              </a:solidFill>
            </a:endParaRPr>
          </a:p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Encapsulation: Protecting data and methods.</a:t>
            </a:r>
            <a:endParaRPr sz="2300">
              <a:solidFill>
                <a:srgbClr val="FFFFFF"/>
              </a:solidFill>
            </a:endParaRPr>
          </a:p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Abstraction: Hiding unnecessary details.</a:t>
            </a:r>
            <a:endParaRPr sz="2300">
              <a:solidFill>
                <a:srgbClr val="FFFFFF"/>
              </a:solidFill>
            </a:endParaRPr>
          </a:p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Modular Design: Breaking down problems into smaller, manageable parts.</a:t>
            </a:r>
            <a:endParaRPr sz="23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225" name="Google Shape;225;g32102be12cc_2_1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2102be12cc_2_156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Quiz: Basic Concepts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231" name="Google Shape;231;g32102be12cc_2_156"/>
          <p:cNvSpPr txBox="1"/>
          <p:nvPr>
            <p:ph idx="1" type="body"/>
          </p:nvPr>
        </p:nvSpPr>
        <p:spPr>
          <a:xfrm>
            <a:off x="650075" y="1569450"/>
            <a:ext cx="77700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Question:</a:t>
            </a:r>
            <a:endParaRPr sz="2300">
              <a:solidFill>
                <a:srgbClr val="FFFFFF"/>
              </a:solidFill>
            </a:endParaRPr>
          </a:p>
          <a:p>
            <a:pPr indent="57150" lvl="0" marL="857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"What is the main difference between a class and an object?"</a:t>
            </a:r>
            <a:endParaRPr sz="2300">
              <a:solidFill>
                <a:srgbClr val="FFFFFF"/>
              </a:solidFill>
            </a:endParaRPr>
          </a:p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Options:</a:t>
            </a:r>
            <a:endParaRPr sz="2300">
              <a:solidFill>
                <a:srgbClr val="FFFFFF"/>
              </a:solidFill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A. A class is an instance of an object.</a:t>
            </a:r>
            <a:endParaRPr sz="2300">
              <a:solidFill>
                <a:srgbClr val="FFFFFF"/>
              </a:solidFill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B. A class is a blueprint; an object is an instance.</a:t>
            </a:r>
            <a:endParaRPr sz="2300">
              <a:solidFill>
                <a:srgbClr val="FFFFFF"/>
              </a:solidFill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C. Objects contain data, while classes are data structures.</a:t>
            </a:r>
            <a:endParaRPr sz="23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232" name="Google Shape;232;g32102be12cc_2_1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2102be12cc_2_163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Discussion Prompt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238" name="Google Shape;238;g32102be12cc_2_163"/>
          <p:cNvSpPr txBox="1"/>
          <p:nvPr>
            <p:ph idx="1" type="body"/>
          </p:nvPr>
        </p:nvSpPr>
        <p:spPr>
          <a:xfrm>
            <a:off x="650075" y="1569450"/>
            <a:ext cx="77700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How can encapsulation improve the security of student records at FPT University?</a:t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239" name="Google Shape;239;g32102be12cc_2_1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2102be12cc_2_170"/>
          <p:cNvSpPr txBox="1"/>
          <p:nvPr>
            <p:ph type="title"/>
          </p:nvPr>
        </p:nvSpPr>
        <p:spPr>
          <a:xfrm>
            <a:off x="650081" y="428625"/>
            <a:ext cx="78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50" lIns="21050" spcFirstLastPara="1" rIns="21050" wrap="square" tIns="2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75"/>
              <a:buFont typeface="Cabin"/>
              <a:buNone/>
            </a:pPr>
            <a:r>
              <a:rPr lang="en" sz="4700">
                <a:solidFill>
                  <a:srgbClr val="FFD966"/>
                </a:solidFill>
              </a:rPr>
              <a:t>Recommended Reading</a:t>
            </a:r>
            <a:endParaRPr sz="4700">
              <a:solidFill>
                <a:srgbClr val="FFD966"/>
              </a:solidFill>
            </a:endParaRPr>
          </a:p>
        </p:txBody>
      </p:sp>
      <p:sp>
        <p:nvSpPr>
          <p:cNvPr id="245" name="Google Shape;245;g32102be12cc_2_170"/>
          <p:cNvSpPr txBox="1"/>
          <p:nvPr>
            <p:ph idx="1" type="body"/>
          </p:nvPr>
        </p:nvSpPr>
        <p:spPr>
          <a:xfrm>
            <a:off x="650075" y="1569450"/>
            <a:ext cx="77700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050" lIns="21050" spcFirstLastPara="1" rIns="21050" wrap="square" tIns="21050">
            <a:noAutofit/>
          </a:bodyPr>
          <a:lstStyle/>
          <a:p>
            <a:pPr indent="-330200" lvl="0" marL="647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•"/>
            </a:pPr>
            <a:r>
              <a:rPr lang="en" sz="2300">
                <a:solidFill>
                  <a:srgbClr val="FFFFFF"/>
                </a:solidFill>
              </a:rPr>
              <a:t>Resources:</a:t>
            </a:r>
            <a:endParaRPr sz="2300">
              <a:solidFill>
                <a:srgbClr val="FFFFFF"/>
              </a:solidFill>
            </a:endParaRPr>
          </a:p>
          <a:p>
            <a:pPr indent="57150" lvl="0" marL="1314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  <a:p>
            <a:pPr indent="57150" lvl="0" marL="1314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Python documentation:</a:t>
            </a:r>
            <a:r>
              <a:rPr lang="en" sz="2300">
                <a:solidFill>
                  <a:srgbClr val="FFFFFF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https://docs.python.org</a:t>
            </a:r>
            <a:endParaRPr sz="2300">
              <a:solidFill>
                <a:srgbClr val="FFFFFF"/>
              </a:solidFill>
            </a:endParaRPr>
          </a:p>
          <a:p>
            <a:pPr indent="57150" lvl="0" marL="1314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PY4E by Dr. Chuck:</a:t>
            </a:r>
            <a:r>
              <a:rPr lang="en" sz="2300">
                <a:solidFill>
                  <a:srgbClr val="FFFFFF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https://www.py4e.com</a:t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246" name="Google Shape;246;g32102be12cc_2_1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